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developed from the user-requested Stratink VIP/luxury guest experience concept in this conversation.
- Visuals are original app mockups and line icons created programmatically.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developed from the user-requested Stratink VIP/luxury guest experience concept in this conversation.
- Visuals are original app mockups and line icons created programmatically.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developed from the user-requested Stratink VIP/luxury guest experience concept in this conversation.
- Visuals are original app mockups and line icons created programmatically.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developed from the user-requested Stratink VIP/luxury guest experience concept in this conversation.
- Visuals are original app mockups and line icons created programmatically.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developed from the user-requested Stratink VIP/luxury guest experience concept in this conversation.
- Visuals are original app mockups and line icons created programmatically.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developed from the user-requested Stratink VIP/luxury guest experience concept in this conversation.
- Visuals are original app mockups and line icons created programmatically.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developed from the user-requested Stratink VIP/luxury guest experience concept in this conversation.
- Visuals are original app mockups and line icons created programmatically.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developed from the user-requested Stratink VIP/luxury guest experience concept in this conversation.
- Visuals are original app mockups and line icons created programmatically.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developed from the user-requested Stratink VIP/luxury guest experience concept in this conversation.
- Visuals are original app mockups and line icons created programmatically.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developed from the user-requested Stratink VIP/luxury guest experience concept in this conversation.
- Visuals are original app mockups and line icons created programmatically.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developed from the user-requested Stratink VIP/luxury guest experience concept in this conversation.
- Visuals are original app mockups and line icons created programmatically.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developed from the user-requested Stratink VIP/luxury guest experience concept in this conversation.
- Visuals are original app mockups and line icons created programmatically.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developed from the user-requested Stratink VIP/luxury guest experience concept in this conversation.
- Visuals are original app mockups and line icons created programmatically.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developed from the user-requested Stratink VIP/luxury guest experience concept in this conversation.
- Visuals are original app mockups and line icons created programmatically.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developed from the user-requested Stratink VIP/luxury guest experience concept in this conversation.
- Visuals are original app mockups and line icons created programmatically.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developed from the user-requested Stratink VIP/luxury guest experience concept in this conversation.
- Visuals are original app mockups and line icons created programmatically.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developed from the user-requested Stratink VIP/luxury guest experience concept in this conversation.
- Visuals are original app mockups and line icons created programmatically.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developed from the user-requested Stratink VIP/luxury guest experience concept in this conversation.
- Visuals are original app mockups and line icons created programmatically.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9.png"/><Relationship Id="rId10" Type="http://schemas.openxmlformats.org/officeDocument/2006/relationships/image" Target="../media/image-16-10.sv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6583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607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8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Guest Experience Platform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68096" y="20116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luxury hotels, resorts, casino resorts, VIP lounges and high-value guests.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" y="2578608"/>
            <a:ext cx="6720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8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app for personal hosts, VIP arrival, suite preparation, casino privileges, private dining, entertainment, resort access and AI luxury concierge service.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6384" y="3858768"/>
            <a:ext cx="1444752" cy="384048"/>
          </a:xfrm>
          <a:prstGeom prst="roundRect">
            <a:avLst>
              <a:gd name="adj" fmla="val 19048"/>
            </a:avLst>
          </a:prstGeom>
          <a:solidFill>
            <a:srgbClr val="2A22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3986784"/>
            <a:ext cx="1261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6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Host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87168" y="3858768"/>
            <a:ext cx="1444752" cy="384048"/>
          </a:xfrm>
          <a:prstGeom prst="roundRect">
            <a:avLst>
              <a:gd name="adj" fmla="val 19048"/>
            </a:avLst>
          </a:prstGeom>
          <a:solidFill>
            <a:srgbClr val="2A22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608" y="3986784"/>
            <a:ext cx="1261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6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Casino VIP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87952" y="3858768"/>
            <a:ext cx="1444752" cy="384048"/>
          </a:xfrm>
          <a:prstGeom prst="roundRect">
            <a:avLst>
              <a:gd name="adj" fmla="val 19048"/>
            </a:avLst>
          </a:prstGeom>
          <a:solidFill>
            <a:srgbClr val="2A22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9392" y="3986784"/>
            <a:ext cx="1261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6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Luxury Concierge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001000" y="1188720"/>
            <a:ext cx="2907792" cy="4370832"/>
          </a:xfrm>
          <a:prstGeom prst="roundRect">
            <a:avLst>
              <a:gd name="adj" fmla="val 6918"/>
            </a:avLst>
          </a:prstGeom>
          <a:solidFill>
            <a:srgbClr val="F8F6F1"/>
          </a:solidFill>
          <a:ln w="15240">
            <a:solidFill>
              <a:srgbClr val="E5D8B7"/>
            </a:solidFill>
            <a:prstDash val="solid"/>
          </a:ln>
          <a:effectLst>
            <a:outerShdw sx="100000" sy="100000" kx="0" ky="0" algn="bl" rotWithShape="0" blurRad="25400" dist="10160" dir="27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0" y="1417320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VIP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1691640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Suite 5808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311896" y="2029968"/>
            <a:ext cx="987552" cy="457200"/>
          </a:xfrm>
          <a:prstGeom prst="roundRect">
            <a:avLst>
              <a:gd name="adj" fmla="val 14000"/>
            </a:avLst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616" y="2167128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Host</a:t>
            </a:r>
            <a:endParaRPr lang="en-US" sz="570" dirty="0"/>
          </a:p>
        </p:txBody>
      </p:sp>
      <p:sp>
        <p:nvSpPr>
          <p:cNvPr id="18" name="Shape 16"/>
          <p:cNvSpPr/>
          <p:nvPr/>
        </p:nvSpPr>
        <p:spPr>
          <a:xfrm>
            <a:off x="9436608" y="2029968"/>
            <a:ext cx="987552" cy="457200"/>
          </a:xfrm>
          <a:prstGeom prst="roundRect">
            <a:avLst>
              <a:gd name="adj" fmla="val 14000"/>
            </a:avLst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82328" y="2167128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Arrival</a:t>
            </a:r>
            <a:endParaRPr lang="en-US" sz="570" dirty="0"/>
          </a:p>
        </p:txBody>
      </p:sp>
      <p:sp>
        <p:nvSpPr>
          <p:cNvPr id="20" name="Shape 18"/>
          <p:cNvSpPr/>
          <p:nvPr/>
        </p:nvSpPr>
        <p:spPr>
          <a:xfrm>
            <a:off x="8311896" y="2651760"/>
            <a:ext cx="987552" cy="457200"/>
          </a:xfrm>
          <a:prstGeom prst="roundRect">
            <a:avLst>
              <a:gd name="adj" fmla="val 14000"/>
            </a:avLst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57616" y="2788920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Casino</a:t>
            </a:r>
            <a:endParaRPr lang="en-US" sz="570" dirty="0"/>
          </a:p>
        </p:txBody>
      </p:sp>
      <p:sp>
        <p:nvSpPr>
          <p:cNvPr id="22" name="Shape 20"/>
          <p:cNvSpPr/>
          <p:nvPr/>
        </p:nvSpPr>
        <p:spPr>
          <a:xfrm>
            <a:off x="9436608" y="2651760"/>
            <a:ext cx="987552" cy="457200"/>
          </a:xfrm>
          <a:prstGeom prst="roundRect">
            <a:avLst>
              <a:gd name="adj" fmla="val 14000"/>
            </a:avLst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82328" y="2788920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Dining</a:t>
            </a:r>
            <a:endParaRPr lang="en-US" sz="570" dirty="0"/>
          </a:p>
        </p:txBody>
      </p:sp>
      <p:sp>
        <p:nvSpPr>
          <p:cNvPr id="24" name="Shape 22"/>
          <p:cNvSpPr/>
          <p:nvPr/>
        </p:nvSpPr>
        <p:spPr>
          <a:xfrm>
            <a:off x="8311896" y="3273552"/>
            <a:ext cx="987552" cy="457200"/>
          </a:xfrm>
          <a:prstGeom prst="roundRect">
            <a:avLst>
              <a:gd name="adj" fmla="val 14000"/>
            </a:avLst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57616" y="3410712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</a:t>
            </a:r>
            <a:endParaRPr lang="en-US" sz="570" dirty="0"/>
          </a:p>
        </p:txBody>
      </p:sp>
      <p:sp>
        <p:nvSpPr>
          <p:cNvPr id="26" name="Shape 24"/>
          <p:cNvSpPr/>
          <p:nvPr/>
        </p:nvSpPr>
        <p:spPr>
          <a:xfrm>
            <a:off x="9436608" y="3273552"/>
            <a:ext cx="987552" cy="457200"/>
          </a:xfrm>
          <a:prstGeom prst="roundRect">
            <a:avLst>
              <a:gd name="adj" fmla="val 14000"/>
            </a:avLst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82328" y="3410712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</a:t>
            </a:r>
            <a:endParaRPr lang="en-US" sz="570" dirty="0"/>
          </a:p>
        </p:txBody>
      </p:sp>
      <p:sp>
        <p:nvSpPr>
          <p:cNvPr id="28" name="Shape 26"/>
          <p:cNvSpPr/>
          <p:nvPr/>
        </p:nvSpPr>
        <p:spPr>
          <a:xfrm>
            <a:off x="8311896" y="3895344"/>
            <a:ext cx="987552" cy="457200"/>
          </a:xfrm>
          <a:prstGeom prst="roundRect">
            <a:avLst>
              <a:gd name="adj" fmla="val 14000"/>
            </a:avLst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57616" y="4032504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</a:t>
            </a:r>
            <a:endParaRPr lang="en-US" sz="570" dirty="0"/>
          </a:p>
        </p:txBody>
      </p:sp>
      <p:sp>
        <p:nvSpPr>
          <p:cNvPr id="30" name="Shape 28"/>
          <p:cNvSpPr/>
          <p:nvPr/>
        </p:nvSpPr>
        <p:spPr>
          <a:xfrm>
            <a:off x="9436608" y="3895344"/>
            <a:ext cx="987552" cy="457200"/>
          </a:xfrm>
          <a:prstGeom prst="roundRect">
            <a:avLst>
              <a:gd name="adj" fmla="val 14000"/>
            </a:avLst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82328" y="4032504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Cabanas</a:t>
            </a:r>
            <a:endParaRPr lang="en-US" sz="570" dirty="0"/>
          </a:p>
        </p:txBody>
      </p:sp>
      <p:sp>
        <p:nvSpPr>
          <p:cNvPr id="32" name="Shape 30"/>
          <p:cNvSpPr/>
          <p:nvPr/>
        </p:nvSpPr>
        <p:spPr>
          <a:xfrm>
            <a:off x="8311896" y="4517136"/>
            <a:ext cx="987552" cy="457200"/>
          </a:xfrm>
          <a:prstGeom prst="roundRect">
            <a:avLst>
              <a:gd name="adj" fmla="val 14000"/>
            </a:avLst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57616" y="4654296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Rewards</a:t>
            </a:r>
            <a:endParaRPr lang="en-US" sz="570" dirty="0"/>
          </a:p>
        </p:txBody>
      </p:sp>
      <p:sp>
        <p:nvSpPr>
          <p:cNvPr id="34" name="Shape 32"/>
          <p:cNvSpPr/>
          <p:nvPr/>
        </p:nvSpPr>
        <p:spPr>
          <a:xfrm>
            <a:off x="9436608" y="4517136"/>
            <a:ext cx="987552" cy="457200"/>
          </a:xfrm>
          <a:prstGeom prst="roundRect">
            <a:avLst>
              <a:gd name="adj" fmla="val 14000"/>
            </a:avLst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82328" y="4654296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Concierge</a:t>
            </a:r>
            <a:endParaRPr lang="en-US" sz="570" dirty="0"/>
          </a:p>
        </p:txBody>
      </p:sp>
      <p:sp>
        <p:nvSpPr>
          <p:cNvPr id="36" name="Text 34"/>
          <p:cNvSpPr/>
          <p:nvPr/>
        </p:nvSpPr>
        <p:spPr>
          <a:xfrm>
            <a:off x="594360" y="6528816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8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320272" y="652881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D8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92608"/>
            <a:ext cx="438912" cy="438912"/>
          </a:xfrm>
          <a:prstGeom prst="hexagon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393192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10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Guest Experience Platform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28346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32520" y="512064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Hotels • Resorts • Casinos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566928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VIP gap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85216" y="14173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Hotels already have guest apps, but VIP guests still rely on phone calls, texts, host follow-ups and manual coordination.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02920" y="6446520"/>
            <a:ext cx="11201400" cy="1"/>
          </a:xfrm>
          <a:prstGeom prst="line">
            <a:avLst/>
          </a:prstGeom>
          <a:noFill/>
          <a:ln w="12700">
            <a:solidFill>
              <a:srgbClr val="E5D8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652881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320272" y="652881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13232" y="1993392"/>
            <a:ext cx="5074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1993392"/>
            <a:ext cx="73152" cy="822960"/>
          </a:xfrm>
          <a:prstGeom prst="rect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112264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service is fragmented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914400" y="2386584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Hosts, concierge teams, casino staff, transportation, dining and entertainment often coordinate through separate channels.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14400" y="2532888"/>
            <a:ext cx="1234440" cy="192024"/>
          </a:xfrm>
          <a:prstGeom prst="roundRect">
            <a:avLst>
              <a:gd name="adj" fmla="val 23810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2587752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6245352" y="1993392"/>
            <a:ext cx="5074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45352" y="1993392"/>
            <a:ext cx="73152" cy="822960"/>
          </a:xfrm>
          <a:prstGeom prst="rect">
            <a:avLst/>
          </a:prstGeom>
          <a:solidFill>
            <a:srgbClr val="D8B76A"/>
          </a:solidFill>
          <a:ln w="12700">
            <a:solidFill>
              <a:srgbClr val="D8B7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112264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High-value guests expect personalization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6446520" y="2386584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guests want preferences remembered, arrival prepared and requests handled without repeating details.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46520" y="2532888"/>
            <a:ext cx="1234440" cy="192024"/>
          </a:xfrm>
          <a:prstGeom prst="roundRect">
            <a:avLst>
              <a:gd name="adj" fmla="val 23810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01384" y="2587752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Gap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713232" y="3182112"/>
            <a:ext cx="5074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182112"/>
            <a:ext cx="73152" cy="822960"/>
          </a:xfrm>
          <a:prstGeom prst="rect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300984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depends on speed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914400" y="3575304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Gaming, dining, spa, events, transport and upgrades can be lost when the request flow is slow or manual.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4400" y="3721608"/>
            <a:ext cx="1234440" cy="192024"/>
          </a:xfrm>
          <a:prstGeom prst="roundRect">
            <a:avLst>
              <a:gd name="adj" fmla="val 23810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" y="3776472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6245352" y="3182112"/>
            <a:ext cx="5074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45352" y="3182112"/>
            <a:ext cx="73152" cy="822960"/>
          </a:xfrm>
          <a:prstGeom prst="rect">
            <a:avLst/>
          </a:prstGeom>
          <a:solidFill>
            <a:srgbClr val="D8B76A"/>
          </a:solidFill>
          <a:ln w="12700">
            <a:solidFill>
              <a:srgbClr val="D8B7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3300984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hotel apps are broad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6446520" y="3575304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guest apps focus on check-in, messaging or room service, not a complete VIP host experience.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446520" y="3721608"/>
            <a:ext cx="1234440" cy="192024"/>
          </a:xfrm>
          <a:prstGeom prst="roundRect">
            <a:avLst>
              <a:gd name="adj" fmla="val 23810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01384" y="3776472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Gap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749808" y="5742432"/>
            <a:ext cx="10744200" cy="457200"/>
          </a:xfrm>
          <a:prstGeom prst="roundRect">
            <a:avLst>
              <a:gd name="adj" fmla="val 20000"/>
            </a:avLst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840" y="5897880"/>
            <a:ext cx="10195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 focuses on the high-value VIP guest experience where service speed, personalization and revenue matter most.</a:t>
            </a:r>
            <a:endParaRPr lang="en-US" sz="10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92608"/>
            <a:ext cx="438912" cy="438912"/>
          </a:xfrm>
          <a:prstGeom prst="hexagon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393192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10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Guest Experience Platform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28346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32520" y="512064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Hotels • Resorts • Casinos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566928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guest home screen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85216" y="14173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private guest experience for suite guests, casino VIPs, loyalty members and luxury resort visitors.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02920" y="6446520"/>
            <a:ext cx="11201400" cy="1"/>
          </a:xfrm>
          <a:prstGeom prst="line">
            <a:avLst/>
          </a:prstGeom>
          <a:noFill/>
          <a:ln w="12700">
            <a:solidFill>
              <a:srgbClr val="E5D8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652881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320272" y="652881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49808" y="1783080"/>
            <a:ext cx="2907792" cy="4370832"/>
          </a:xfrm>
          <a:prstGeom prst="roundRect">
            <a:avLst>
              <a:gd name="adj" fmla="val 6918"/>
            </a:avLst>
          </a:prstGeom>
          <a:solidFill>
            <a:srgbClr val="F8F6F1"/>
          </a:solidFill>
          <a:ln w="15240">
            <a:solidFill>
              <a:srgbClr val="E5D8B7"/>
            </a:solidFill>
            <a:prstDash val="solid"/>
          </a:ln>
          <a:effectLst>
            <a:outerShdw sx="100000" sy="100000" kx="0" ky="0" algn="bl" rotWithShape="0" blurRad="25400" dist="10160" dir="27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78408" y="2011680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VIP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78408" y="2286000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Suite 5808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060704" y="2624328"/>
            <a:ext cx="987552" cy="457200"/>
          </a:xfrm>
          <a:prstGeom prst="roundRect">
            <a:avLst>
              <a:gd name="adj" fmla="val 14000"/>
            </a:avLst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6424" y="2761488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Host</a:t>
            </a:r>
            <a:endParaRPr lang="en-US" sz="570" dirty="0"/>
          </a:p>
        </p:txBody>
      </p:sp>
      <p:sp>
        <p:nvSpPr>
          <p:cNvPr id="19" name="Shape 17"/>
          <p:cNvSpPr/>
          <p:nvPr/>
        </p:nvSpPr>
        <p:spPr>
          <a:xfrm>
            <a:off x="2185416" y="2624328"/>
            <a:ext cx="987552" cy="457200"/>
          </a:xfrm>
          <a:prstGeom prst="roundRect">
            <a:avLst>
              <a:gd name="adj" fmla="val 14000"/>
            </a:avLst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31136" y="2761488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Arrival</a:t>
            </a:r>
            <a:endParaRPr lang="en-US" sz="570" dirty="0"/>
          </a:p>
        </p:txBody>
      </p:sp>
      <p:sp>
        <p:nvSpPr>
          <p:cNvPr id="21" name="Shape 19"/>
          <p:cNvSpPr/>
          <p:nvPr/>
        </p:nvSpPr>
        <p:spPr>
          <a:xfrm>
            <a:off x="1060704" y="3246120"/>
            <a:ext cx="987552" cy="457200"/>
          </a:xfrm>
          <a:prstGeom prst="roundRect">
            <a:avLst>
              <a:gd name="adj" fmla="val 14000"/>
            </a:avLst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6424" y="3383280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Casino</a:t>
            </a:r>
            <a:endParaRPr lang="en-US" sz="570" dirty="0"/>
          </a:p>
        </p:txBody>
      </p:sp>
      <p:sp>
        <p:nvSpPr>
          <p:cNvPr id="23" name="Shape 21"/>
          <p:cNvSpPr/>
          <p:nvPr/>
        </p:nvSpPr>
        <p:spPr>
          <a:xfrm>
            <a:off x="2185416" y="3246120"/>
            <a:ext cx="987552" cy="457200"/>
          </a:xfrm>
          <a:prstGeom prst="roundRect">
            <a:avLst>
              <a:gd name="adj" fmla="val 14000"/>
            </a:avLst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31136" y="3383280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Dining</a:t>
            </a:r>
            <a:endParaRPr lang="en-US" sz="570" dirty="0"/>
          </a:p>
        </p:txBody>
      </p:sp>
      <p:sp>
        <p:nvSpPr>
          <p:cNvPr id="25" name="Shape 23"/>
          <p:cNvSpPr/>
          <p:nvPr/>
        </p:nvSpPr>
        <p:spPr>
          <a:xfrm>
            <a:off x="1060704" y="3867912"/>
            <a:ext cx="987552" cy="457200"/>
          </a:xfrm>
          <a:prstGeom prst="roundRect">
            <a:avLst>
              <a:gd name="adj" fmla="val 14000"/>
            </a:avLst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06424" y="4005072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</a:t>
            </a:r>
            <a:endParaRPr lang="en-US" sz="570" dirty="0"/>
          </a:p>
        </p:txBody>
      </p:sp>
      <p:sp>
        <p:nvSpPr>
          <p:cNvPr id="27" name="Shape 25"/>
          <p:cNvSpPr/>
          <p:nvPr/>
        </p:nvSpPr>
        <p:spPr>
          <a:xfrm>
            <a:off x="2185416" y="3867912"/>
            <a:ext cx="987552" cy="457200"/>
          </a:xfrm>
          <a:prstGeom prst="roundRect">
            <a:avLst>
              <a:gd name="adj" fmla="val 14000"/>
            </a:avLst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31136" y="4005072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</a:t>
            </a:r>
            <a:endParaRPr lang="en-US" sz="570" dirty="0"/>
          </a:p>
        </p:txBody>
      </p:sp>
      <p:sp>
        <p:nvSpPr>
          <p:cNvPr id="29" name="Shape 27"/>
          <p:cNvSpPr/>
          <p:nvPr/>
        </p:nvSpPr>
        <p:spPr>
          <a:xfrm>
            <a:off x="1060704" y="4489704"/>
            <a:ext cx="987552" cy="457200"/>
          </a:xfrm>
          <a:prstGeom prst="roundRect">
            <a:avLst>
              <a:gd name="adj" fmla="val 14000"/>
            </a:avLst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06424" y="4626864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</a:t>
            </a:r>
            <a:endParaRPr lang="en-US" sz="570" dirty="0"/>
          </a:p>
        </p:txBody>
      </p:sp>
      <p:sp>
        <p:nvSpPr>
          <p:cNvPr id="31" name="Shape 29"/>
          <p:cNvSpPr/>
          <p:nvPr/>
        </p:nvSpPr>
        <p:spPr>
          <a:xfrm>
            <a:off x="2185416" y="4489704"/>
            <a:ext cx="987552" cy="457200"/>
          </a:xfrm>
          <a:prstGeom prst="roundRect">
            <a:avLst>
              <a:gd name="adj" fmla="val 14000"/>
            </a:avLst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31136" y="4626864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Cabanas</a:t>
            </a:r>
            <a:endParaRPr lang="en-US" sz="570" dirty="0"/>
          </a:p>
        </p:txBody>
      </p:sp>
      <p:sp>
        <p:nvSpPr>
          <p:cNvPr id="33" name="Shape 31"/>
          <p:cNvSpPr/>
          <p:nvPr/>
        </p:nvSpPr>
        <p:spPr>
          <a:xfrm>
            <a:off x="1060704" y="5111496"/>
            <a:ext cx="987552" cy="457200"/>
          </a:xfrm>
          <a:prstGeom prst="roundRect">
            <a:avLst>
              <a:gd name="adj" fmla="val 14000"/>
            </a:avLst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06424" y="5248656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Rewards</a:t>
            </a:r>
            <a:endParaRPr lang="en-US" sz="570" dirty="0"/>
          </a:p>
        </p:txBody>
      </p:sp>
      <p:sp>
        <p:nvSpPr>
          <p:cNvPr id="35" name="Shape 33"/>
          <p:cNvSpPr/>
          <p:nvPr/>
        </p:nvSpPr>
        <p:spPr>
          <a:xfrm>
            <a:off x="2185416" y="5111496"/>
            <a:ext cx="987552" cy="457200"/>
          </a:xfrm>
          <a:prstGeom prst="roundRect">
            <a:avLst>
              <a:gd name="adj" fmla="val 14000"/>
            </a:avLst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31136" y="5248656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Help</a:t>
            </a:r>
            <a:endParaRPr lang="en-US" sz="570" dirty="0"/>
          </a:p>
        </p:txBody>
      </p:sp>
      <p:sp>
        <p:nvSpPr>
          <p:cNvPr id="37" name="Shape 35"/>
          <p:cNvSpPr/>
          <p:nvPr/>
        </p:nvSpPr>
        <p:spPr>
          <a:xfrm>
            <a:off x="4160520" y="1965960"/>
            <a:ext cx="379476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160520" y="1965960"/>
            <a:ext cx="73152" cy="768096"/>
          </a:xfrm>
          <a:prstGeom prst="rect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61688" y="2084832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access only</a:t>
            </a:r>
            <a:endParaRPr lang="en-US" sz="1220" dirty="0"/>
          </a:p>
        </p:txBody>
      </p:sp>
      <p:sp>
        <p:nvSpPr>
          <p:cNvPr id="40" name="Text 38"/>
          <p:cNvSpPr/>
          <p:nvPr/>
        </p:nvSpPr>
        <p:spPr>
          <a:xfrm>
            <a:off x="4361688" y="2359152"/>
            <a:ext cx="3465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is positioned for high-value guests, suite guests, casino VIP members and luxury resort guests.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361688" y="2450592"/>
            <a:ext cx="1234440" cy="192024"/>
          </a:xfrm>
          <a:prstGeom prst="roundRect">
            <a:avLst>
              <a:gd name="adj" fmla="val 23810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16552" y="2505456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4160520" y="3044952"/>
            <a:ext cx="379476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160520" y="3044952"/>
            <a:ext cx="73152" cy="768096"/>
          </a:xfrm>
          <a:prstGeom prst="rect">
            <a:avLst/>
          </a:prstGeom>
          <a:solidFill>
            <a:srgbClr val="D8B76A"/>
          </a:solidFill>
          <a:ln w="12700">
            <a:solidFill>
              <a:srgbClr val="D8B76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61688" y="3163824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Personalized by profile</a:t>
            </a:r>
            <a:endParaRPr lang="en-US" sz="1220" dirty="0"/>
          </a:p>
        </p:txBody>
      </p:sp>
      <p:sp>
        <p:nvSpPr>
          <p:cNvPr id="46" name="Text 44"/>
          <p:cNvSpPr/>
          <p:nvPr/>
        </p:nvSpPr>
        <p:spPr>
          <a:xfrm>
            <a:off x="4361688" y="3438144"/>
            <a:ext cx="3465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Preferences, host information, dining tastes, transport needs and loyalty details can be surfaced.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361688" y="3529584"/>
            <a:ext cx="1234440" cy="192024"/>
          </a:xfrm>
          <a:prstGeom prst="roundRect">
            <a:avLst>
              <a:gd name="adj" fmla="val 23810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16552" y="3584448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4160520" y="4123944"/>
            <a:ext cx="379476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6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160520" y="4123944"/>
            <a:ext cx="73152" cy="768096"/>
          </a:xfrm>
          <a:prstGeom prst="rect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61688" y="4242816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High-value services</a:t>
            </a:r>
            <a:endParaRPr lang="en-US" sz="1220" dirty="0"/>
          </a:p>
        </p:txBody>
      </p:sp>
      <p:sp>
        <p:nvSpPr>
          <p:cNvPr id="52" name="Text 50"/>
          <p:cNvSpPr/>
          <p:nvPr/>
        </p:nvSpPr>
        <p:spPr>
          <a:xfrm>
            <a:off x="4361688" y="4517136"/>
            <a:ext cx="3465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Focuses on revenue-rich experiences: gaming, dining, entertainment, wellness, transport and upgrades.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361688" y="4608576"/>
            <a:ext cx="1234440" cy="192024"/>
          </a:xfrm>
          <a:prstGeom prst="roundRect">
            <a:avLst>
              <a:gd name="adj" fmla="val 23810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16552" y="4663440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8366760" y="1965960"/>
            <a:ext cx="2926080" cy="297180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6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366760" y="1965960"/>
            <a:ext cx="73152" cy="2971800"/>
          </a:xfrm>
          <a:prstGeom prst="rect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567928" y="208483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Luxury positioning</a:t>
            </a:r>
            <a:endParaRPr lang="en-US" sz="1220" dirty="0"/>
          </a:p>
        </p:txBody>
      </p:sp>
      <p:sp>
        <p:nvSpPr>
          <p:cNvPr id="58" name="Text 56"/>
          <p:cNvSpPr/>
          <p:nvPr/>
        </p:nvSpPr>
        <p:spPr>
          <a:xfrm>
            <a:off x="8567928" y="2359152"/>
            <a:ext cx="2596896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standard hotel app. A premium VIP operating layer for hotels, resorts and casinos that want to serve high-value guests better.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567928" y="4654296"/>
            <a:ext cx="1234440" cy="192024"/>
          </a:xfrm>
          <a:prstGeom prst="roundRect">
            <a:avLst>
              <a:gd name="adj" fmla="val 23810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22792" y="4709160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Positioning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92608"/>
            <a:ext cx="438912" cy="438912"/>
          </a:xfrm>
          <a:prstGeom prst="hexagon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393192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10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Guest Experience Platform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28346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32520" y="512064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Hotels • Resorts • Casinos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566928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VIP host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85216" y="14173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dedicated digital host experience for high-value guests who need personalized coordination.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02920" y="6446520"/>
            <a:ext cx="11201400" cy="1"/>
          </a:xfrm>
          <a:prstGeom prst="line">
            <a:avLst/>
          </a:prstGeom>
          <a:noFill/>
          <a:ln w="12700">
            <a:solidFill>
              <a:srgbClr val="E5D8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652881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320272" y="652881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1323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167128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2276856"/>
            <a:ext cx="283464" cy="28346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619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VIP Host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153619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messaging, availability status, request routing and personalized follow-up.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153619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</a:t>
            </a:r>
            <a:endParaRPr lang="en-US" sz="660" dirty="0"/>
          </a:p>
        </p:txBody>
      </p:sp>
      <p:sp>
        <p:nvSpPr>
          <p:cNvPr id="20" name="Shape 17"/>
          <p:cNvSpPr/>
          <p:nvPr/>
        </p:nvSpPr>
        <p:spPr>
          <a:xfrm>
            <a:off x="446227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2167128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3168" y="2276856"/>
            <a:ext cx="283464" cy="28346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8523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Preference Profile</a:t>
            </a:r>
            <a:endParaRPr lang="en-US" sz="1180" dirty="0"/>
          </a:p>
        </p:txBody>
      </p:sp>
      <p:sp>
        <p:nvSpPr>
          <p:cNvPr id="24" name="Text 20"/>
          <p:cNvSpPr/>
          <p:nvPr/>
        </p:nvSpPr>
        <p:spPr>
          <a:xfrm>
            <a:off x="528523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Favorite dining, drinks, room setup, pillow type, transportation and special notes.</a:t>
            </a:r>
            <a:endParaRPr lang="en-US" sz="820" dirty="0"/>
          </a:p>
        </p:txBody>
      </p:sp>
      <p:sp>
        <p:nvSpPr>
          <p:cNvPr id="25" name="Text 21"/>
          <p:cNvSpPr/>
          <p:nvPr/>
        </p:nvSpPr>
        <p:spPr>
          <a:xfrm>
            <a:off x="528523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</a:t>
            </a:r>
            <a:endParaRPr lang="en-US" sz="660" dirty="0"/>
          </a:p>
        </p:txBody>
      </p:sp>
      <p:sp>
        <p:nvSpPr>
          <p:cNvPr id="26" name="Shape 22"/>
          <p:cNvSpPr/>
          <p:nvPr/>
        </p:nvSpPr>
        <p:spPr>
          <a:xfrm>
            <a:off x="821131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412480" y="2167128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22208" y="2276856"/>
            <a:ext cx="283464" cy="28346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03427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Requests</a:t>
            </a:r>
            <a:endParaRPr lang="en-US" sz="1180" dirty="0"/>
          </a:p>
        </p:txBody>
      </p:sp>
      <p:sp>
        <p:nvSpPr>
          <p:cNvPr id="30" name="Text 25"/>
          <p:cNvSpPr/>
          <p:nvPr/>
        </p:nvSpPr>
        <p:spPr>
          <a:xfrm>
            <a:off x="903427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Fast-track requests for transportation, reservations, gaming, dining and resort services.</a:t>
            </a:r>
            <a:endParaRPr lang="en-US" sz="820" dirty="0"/>
          </a:p>
        </p:txBody>
      </p:sp>
      <p:sp>
        <p:nvSpPr>
          <p:cNvPr id="31" name="Text 26"/>
          <p:cNvSpPr/>
          <p:nvPr/>
        </p:nvSpPr>
        <p:spPr>
          <a:xfrm>
            <a:off x="903427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</a:t>
            </a:r>
            <a:endParaRPr lang="en-US" sz="660" dirty="0"/>
          </a:p>
        </p:txBody>
      </p:sp>
      <p:sp>
        <p:nvSpPr>
          <p:cNvPr id="32" name="Shape 27"/>
          <p:cNvSpPr/>
          <p:nvPr/>
        </p:nvSpPr>
        <p:spPr>
          <a:xfrm>
            <a:off x="71323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14400" y="3520440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4128" y="3630168"/>
            <a:ext cx="283464" cy="28346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53619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 Itineraries</a:t>
            </a:r>
            <a:endParaRPr lang="en-US" sz="1180" dirty="0"/>
          </a:p>
        </p:txBody>
      </p:sp>
      <p:sp>
        <p:nvSpPr>
          <p:cNvPr id="36" name="Text 30"/>
          <p:cNvSpPr/>
          <p:nvPr/>
        </p:nvSpPr>
        <p:spPr>
          <a:xfrm>
            <a:off x="153619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Personalized schedules for stay, entertainment, dining and casino events.</a:t>
            </a:r>
            <a:endParaRPr lang="en-US" sz="820" dirty="0"/>
          </a:p>
        </p:txBody>
      </p:sp>
      <p:sp>
        <p:nvSpPr>
          <p:cNvPr id="37" name="Text 31"/>
          <p:cNvSpPr/>
          <p:nvPr/>
        </p:nvSpPr>
        <p:spPr>
          <a:xfrm>
            <a:off x="153619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Plans</a:t>
            </a:r>
            <a:endParaRPr lang="en-US" sz="660" dirty="0"/>
          </a:p>
        </p:txBody>
      </p:sp>
      <p:sp>
        <p:nvSpPr>
          <p:cNvPr id="38" name="Shape 32"/>
          <p:cNvSpPr/>
          <p:nvPr/>
        </p:nvSpPr>
        <p:spPr>
          <a:xfrm>
            <a:off x="446227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663440" y="3520440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3168" y="3630168"/>
            <a:ext cx="283464" cy="2834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28523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Notes</a:t>
            </a:r>
            <a:endParaRPr lang="en-US" sz="1180" dirty="0"/>
          </a:p>
        </p:txBody>
      </p:sp>
      <p:sp>
        <p:nvSpPr>
          <p:cNvPr id="42" name="Text 35"/>
          <p:cNvSpPr/>
          <p:nvPr/>
        </p:nvSpPr>
        <p:spPr>
          <a:xfrm>
            <a:off x="528523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notes help the team deliver consistent, personal service.</a:t>
            </a:r>
            <a:endParaRPr lang="en-US" sz="820" dirty="0"/>
          </a:p>
        </p:txBody>
      </p:sp>
      <p:sp>
        <p:nvSpPr>
          <p:cNvPr id="43" name="Text 36"/>
          <p:cNvSpPr/>
          <p:nvPr/>
        </p:nvSpPr>
        <p:spPr>
          <a:xfrm>
            <a:off x="528523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660" dirty="0"/>
          </a:p>
        </p:txBody>
      </p:sp>
      <p:sp>
        <p:nvSpPr>
          <p:cNvPr id="44" name="Shape 37"/>
          <p:cNvSpPr/>
          <p:nvPr/>
        </p:nvSpPr>
        <p:spPr>
          <a:xfrm>
            <a:off x="821131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8412480" y="3520440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22208" y="3630168"/>
            <a:ext cx="283464" cy="28346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903427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 History</a:t>
            </a:r>
            <a:endParaRPr lang="en-US" sz="1180" dirty="0"/>
          </a:p>
        </p:txBody>
      </p:sp>
      <p:sp>
        <p:nvSpPr>
          <p:cNvPr id="48" name="Text 40"/>
          <p:cNvSpPr/>
          <p:nvPr/>
        </p:nvSpPr>
        <p:spPr>
          <a:xfrm>
            <a:off x="903427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stays and prior preferences can inform future experiences.</a:t>
            </a:r>
            <a:endParaRPr lang="en-US" sz="820" dirty="0"/>
          </a:p>
        </p:txBody>
      </p:sp>
      <p:sp>
        <p:nvSpPr>
          <p:cNvPr id="49" name="Text 41"/>
          <p:cNvSpPr/>
          <p:nvPr/>
        </p:nvSpPr>
        <p:spPr>
          <a:xfrm>
            <a:off x="903427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</a:t>
            </a:r>
            <a:endParaRPr lang="en-US" sz="660" dirty="0"/>
          </a:p>
        </p:txBody>
      </p:sp>
      <p:sp>
        <p:nvSpPr>
          <p:cNvPr id="50" name="Shape 42"/>
          <p:cNvSpPr/>
          <p:nvPr/>
        </p:nvSpPr>
        <p:spPr>
          <a:xfrm>
            <a:off x="749808" y="5742432"/>
            <a:ext cx="10744200" cy="457200"/>
          </a:xfrm>
          <a:prstGeom prst="roundRect">
            <a:avLst>
              <a:gd name="adj" fmla="val 20000"/>
            </a:avLst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1005840" y="5897880"/>
            <a:ext cx="10195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VIP host module is the human service layer that most standard hotel apps do not fully own.</a:t>
            </a:r>
            <a:endParaRPr lang="en-US" sz="10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92608"/>
            <a:ext cx="438912" cy="438912"/>
          </a:xfrm>
          <a:prstGeom prst="hexagon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393192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10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Guest Experience Platform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28346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32520" y="512064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Hotels • Resorts • Casinos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566928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arrival and suite preparation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85216" y="14173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the stay before the guest reaches the property.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02920" y="6446520"/>
            <a:ext cx="11201400" cy="1"/>
          </a:xfrm>
          <a:prstGeom prst="line">
            <a:avLst/>
          </a:prstGeom>
          <a:noFill/>
          <a:ln w="12700">
            <a:solidFill>
              <a:srgbClr val="E5D8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652881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320272" y="652881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1323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167128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2276856"/>
            <a:ext cx="283464" cy="28346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619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Luxury Arrival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153619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limousine, executive SUV, chauffeur, private transfer or helicopter request.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153619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Arrival</a:t>
            </a:r>
            <a:endParaRPr lang="en-US" sz="660" dirty="0"/>
          </a:p>
        </p:txBody>
      </p:sp>
      <p:sp>
        <p:nvSpPr>
          <p:cNvPr id="20" name="Shape 17"/>
          <p:cNvSpPr/>
          <p:nvPr/>
        </p:nvSpPr>
        <p:spPr>
          <a:xfrm>
            <a:off x="446227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2167128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3168" y="2276856"/>
            <a:ext cx="283464" cy="28346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8523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Suite Setup</a:t>
            </a:r>
            <a:endParaRPr lang="en-US" sz="1180" dirty="0"/>
          </a:p>
        </p:txBody>
      </p:sp>
      <p:sp>
        <p:nvSpPr>
          <p:cNvPr id="24" name="Text 20"/>
          <p:cNvSpPr/>
          <p:nvPr/>
        </p:nvSpPr>
        <p:spPr>
          <a:xfrm>
            <a:off x="528523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Favorite wine, snacks, flowers, temperature, lighting, music and pillow preferences.</a:t>
            </a:r>
            <a:endParaRPr lang="en-US" sz="820" dirty="0"/>
          </a:p>
        </p:txBody>
      </p:sp>
      <p:sp>
        <p:nvSpPr>
          <p:cNvPr id="25" name="Text 21"/>
          <p:cNvSpPr/>
          <p:nvPr/>
        </p:nvSpPr>
        <p:spPr>
          <a:xfrm>
            <a:off x="528523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Suite</a:t>
            </a:r>
            <a:endParaRPr lang="en-US" sz="660" dirty="0"/>
          </a:p>
        </p:txBody>
      </p:sp>
      <p:sp>
        <p:nvSpPr>
          <p:cNvPr id="26" name="Shape 22"/>
          <p:cNvSpPr/>
          <p:nvPr/>
        </p:nvSpPr>
        <p:spPr>
          <a:xfrm>
            <a:off x="821131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412480" y="2167128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22208" y="2276856"/>
            <a:ext cx="283464" cy="28346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03427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Package</a:t>
            </a:r>
            <a:endParaRPr lang="en-US" sz="1180" dirty="0"/>
          </a:p>
        </p:txBody>
      </p:sp>
      <p:sp>
        <p:nvSpPr>
          <p:cNvPr id="30" name="Text 25"/>
          <p:cNvSpPr/>
          <p:nvPr/>
        </p:nvSpPr>
        <p:spPr>
          <a:xfrm>
            <a:off x="903427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Personalized gifts, amenities, champagne, fruit plate or casino VIP welcome.</a:t>
            </a:r>
            <a:endParaRPr lang="en-US" sz="820" dirty="0"/>
          </a:p>
        </p:txBody>
      </p:sp>
      <p:sp>
        <p:nvSpPr>
          <p:cNvPr id="31" name="Text 26"/>
          <p:cNvSpPr/>
          <p:nvPr/>
        </p:nvSpPr>
        <p:spPr>
          <a:xfrm>
            <a:off x="903427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</a:t>
            </a:r>
            <a:endParaRPr lang="en-US" sz="660" dirty="0"/>
          </a:p>
        </p:txBody>
      </p:sp>
      <p:sp>
        <p:nvSpPr>
          <p:cNvPr id="32" name="Shape 27"/>
          <p:cNvSpPr/>
          <p:nvPr/>
        </p:nvSpPr>
        <p:spPr>
          <a:xfrm>
            <a:off x="71323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14400" y="3520440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4128" y="3630168"/>
            <a:ext cx="283464" cy="28346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53619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Check-In</a:t>
            </a:r>
            <a:endParaRPr lang="en-US" sz="1180" dirty="0"/>
          </a:p>
        </p:txBody>
      </p:sp>
      <p:sp>
        <p:nvSpPr>
          <p:cNvPr id="36" name="Text 30"/>
          <p:cNvSpPr/>
          <p:nvPr/>
        </p:nvSpPr>
        <p:spPr>
          <a:xfrm>
            <a:off x="153619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check-in, early arrival and direct-to-suite coordination.</a:t>
            </a:r>
            <a:endParaRPr lang="en-US" sz="820" dirty="0"/>
          </a:p>
        </p:txBody>
      </p:sp>
      <p:sp>
        <p:nvSpPr>
          <p:cNvPr id="37" name="Text 31"/>
          <p:cNvSpPr/>
          <p:nvPr/>
        </p:nvSpPr>
        <p:spPr>
          <a:xfrm>
            <a:off x="153619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Check-in</a:t>
            </a:r>
            <a:endParaRPr lang="en-US" sz="660" dirty="0"/>
          </a:p>
        </p:txBody>
      </p:sp>
      <p:sp>
        <p:nvSpPr>
          <p:cNvPr id="38" name="Shape 32"/>
          <p:cNvSpPr/>
          <p:nvPr/>
        </p:nvSpPr>
        <p:spPr>
          <a:xfrm>
            <a:off x="446227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663440" y="3520440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3168" y="3630168"/>
            <a:ext cx="283464" cy="2834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28523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Companion Details</a:t>
            </a:r>
            <a:endParaRPr lang="en-US" sz="1180" dirty="0"/>
          </a:p>
        </p:txBody>
      </p:sp>
      <p:sp>
        <p:nvSpPr>
          <p:cNvPr id="42" name="Text 35"/>
          <p:cNvSpPr/>
          <p:nvPr/>
        </p:nvSpPr>
        <p:spPr>
          <a:xfrm>
            <a:off x="528523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 party notes, special needs, celebration details and itinerary planning.</a:t>
            </a:r>
            <a:endParaRPr lang="en-US" sz="820" dirty="0"/>
          </a:p>
        </p:txBody>
      </p:sp>
      <p:sp>
        <p:nvSpPr>
          <p:cNvPr id="43" name="Text 36"/>
          <p:cNvSpPr/>
          <p:nvPr/>
        </p:nvSpPr>
        <p:spPr>
          <a:xfrm>
            <a:off x="528523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Details</a:t>
            </a:r>
            <a:endParaRPr lang="en-US" sz="660" dirty="0"/>
          </a:p>
        </p:txBody>
      </p:sp>
      <p:sp>
        <p:nvSpPr>
          <p:cNvPr id="44" name="Shape 37"/>
          <p:cNvSpPr/>
          <p:nvPr/>
        </p:nvSpPr>
        <p:spPr>
          <a:xfrm>
            <a:off x="821131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8412480" y="3520440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22208" y="3630168"/>
            <a:ext cx="283464" cy="28346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903427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Arrival Alerts</a:t>
            </a:r>
            <a:endParaRPr lang="en-US" sz="1180" dirty="0"/>
          </a:p>
        </p:txBody>
      </p:sp>
      <p:sp>
        <p:nvSpPr>
          <p:cNvPr id="48" name="Text 40"/>
          <p:cNvSpPr/>
          <p:nvPr/>
        </p:nvSpPr>
        <p:spPr>
          <a:xfrm>
            <a:off x="903427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and staff know arrival time, transport status and suite-readiness status.</a:t>
            </a:r>
            <a:endParaRPr lang="en-US" sz="820" dirty="0"/>
          </a:p>
        </p:txBody>
      </p:sp>
      <p:sp>
        <p:nvSpPr>
          <p:cNvPr id="49" name="Text 41"/>
          <p:cNvSpPr/>
          <p:nvPr/>
        </p:nvSpPr>
        <p:spPr>
          <a:xfrm>
            <a:off x="903427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</a:t>
            </a:r>
            <a:endParaRPr lang="en-US" sz="660" dirty="0"/>
          </a:p>
        </p:txBody>
      </p:sp>
      <p:sp>
        <p:nvSpPr>
          <p:cNvPr id="50" name="Shape 42"/>
          <p:cNvSpPr/>
          <p:nvPr/>
        </p:nvSpPr>
        <p:spPr>
          <a:xfrm>
            <a:off x="749808" y="5742432"/>
            <a:ext cx="10744200" cy="457200"/>
          </a:xfrm>
          <a:prstGeom prst="roundRect">
            <a:avLst>
              <a:gd name="adj" fmla="val 20000"/>
            </a:avLst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1005840" y="5897880"/>
            <a:ext cx="10195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stay starts before check-in, with the room and host already prepared.</a:t>
            </a:r>
            <a:endParaRPr lang="en-US" sz="10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92608"/>
            <a:ext cx="438912" cy="438912"/>
          </a:xfrm>
          <a:prstGeom prst="hexagon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393192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10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Guest Experience Platform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28346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32520" y="512064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Hotels • Resorts • Casinos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566928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Casino VIP and gaming access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85216" y="14173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casino resort layer for high-value gaming guests.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02920" y="6446520"/>
            <a:ext cx="11201400" cy="1"/>
          </a:xfrm>
          <a:prstGeom prst="line">
            <a:avLst/>
          </a:prstGeom>
          <a:noFill/>
          <a:ln w="12700">
            <a:solidFill>
              <a:srgbClr val="E5D8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652881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320272" y="652881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1323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167128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2276856"/>
            <a:ext cx="283464" cy="28346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619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High-Limit Access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153619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access to high-limit rooms, VIP areas and reserved gaming spaces.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153619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Gaming</a:t>
            </a:r>
            <a:endParaRPr lang="en-US" sz="660" dirty="0"/>
          </a:p>
        </p:txBody>
      </p:sp>
      <p:sp>
        <p:nvSpPr>
          <p:cNvPr id="20" name="Shape 17"/>
          <p:cNvSpPr/>
          <p:nvPr/>
        </p:nvSpPr>
        <p:spPr>
          <a:xfrm>
            <a:off x="446227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2167128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3168" y="2276856"/>
            <a:ext cx="283464" cy="28346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8523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Tournament Registration</a:t>
            </a:r>
            <a:endParaRPr lang="en-US" sz="1180" dirty="0"/>
          </a:p>
        </p:txBody>
      </p:sp>
      <p:sp>
        <p:nvSpPr>
          <p:cNvPr id="24" name="Text 20"/>
          <p:cNvSpPr/>
          <p:nvPr/>
        </p:nvSpPr>
        <p:spPr>
          <a:xfrm>
            <a:off x="528523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Poker, blackjack, slot tournaments and VIP gaming event enrollment.</a:t>
            </a:r>
            <a:endParaRPr lang="en-US" sz="820" dirty="0"/>
          </a:p>
        </p:txBody>
      </p:sp>
      <p:sp>
        <p:nvSpPr>
          <p:cNvPr id="25" name="Text 21"/>
          <p:cNvSpPr/>
          <p:nvPr/>
        </p:nvSpPr>
        <p:spPr>
          <a:xfrm>
            <a:off x="528523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Tournament</a:t>
            </a:r>
            <a:endParaRPr lang="en-US" sz="660" dirty="0"/>
          </a:p>
        </p:txBody>
      </p:sp>
      <p:sp>
        <p:nvSpPr>
          <p:cNvPr id="26" name="Shape 22"/>
          <p:cNvSpPr/>
          <p:nvPr/>
        </p:nvSpPr>
        <p:spPr>
          <a:xfrm>
            <a:off x="821131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412480" y="2167128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22208" y="2276856"/>
            <a:ext cx="283464" cy="28346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03427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Gaming Promotions</a:t>
            </a:r>
            <a:endParaRPr lang="en-US" sz="1180" dirty="0"/>
          </a:p>
        </p:txBody>
      </p:sp>
      <p:sp>
        <p:nvSpPr>
          <p:cNvPr id="30" name="Text 25"/>
          <p:cNvSpPr/>
          <p:nvPr/>
        </p:nvSpPr>
        <p:spPr>
          <a:xfrm>
            <a:off x="903427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Personalized promotions, casino offers, event invitations and limited-time benefits.</a:t>
            </a:r>
            <a:endParaRPr lang="en-US" sz="820" dirty="0"/>
          </a:p>
        </p:txBody>
      </p:sp>
      <p:sp>
        <p:nvSpPr>
          <p:cNvPr id="31" name="Text 26"/>
          <p:cNvSpPr/>
          <p:nvPr/>
        </p:nvSpPr>
        <p:spPr>
          <a:xfrm>
            <a:off x="903427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Promos</a:t>
            </a:r>
            <a:endParaRPr lang="en-US" sz="660" dirty="0"/>
          </a:p>
        </p:txBody>
      </p:sp>
      <p:sp>
        <p:nvSpPr>
          <p:cNvPr id="32" name="Shape 27"/>
          <p:cNvSpPr/>
          <p:nvPr/>
        </p:nvSpPr>
        <p:spPr>
          <a:xfrm>
            <a:off x="71323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14400" y="3520440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4128" y="3630168"/>
            <a:ext cx="283464" cy="28346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53619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Host Requests</a:t>
            </a:r>
            <a:endParaRPr lang="en-US" sz="1180" dirty="0"/>
          </a:p>
        </p:txBody>
      </p:sp>
      <p:sp>
        <p:nvSpPr>
          <p:cNvPr id="36" name="Text 30"/>
          <p:cNvSpPr/>
          <p:nvPr/>
        </p:nvSpPr>
        <p:spPr>
          <a:xfrm>
            <a:off x="153619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casino host for gaming needs, reservations and special arrangements.</a:t>
            </a:r>
            <a:endParaRPr lang="en-US" sz="820" dirty="0"/>
          </a:p>
        </p:txBody>
      </p:sp>
      <p:sp>
        <p:nvSpPr>
          <p:cNvPr id="37" name="Text 31"/>
          <p:cNvSpPr/>
          <p:nvPr/>
        </p:nvSpPr>
        <p:spPr>
          <a:xfrm>
            <a:off x="153619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</a:t>
            </a:r>
            <a:endParaRPr lang="en-US" sz="660" dirty="0"/>
          </a:p>
        </p:txBody>
      </p:sp>
      <p:sp>
        <p:nvSpPr>
          <p:cNvPr id="38" name="Shape 32"/>
          <p:cNvSpPr/>
          <p:nvPr/>
        </p:nvSpPr>
        <p:spPr>
          <a:xfrm>
            <a:off x="446227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663440" y="3520440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3168" y="3630168"/>
            <a:ext cx="283464" cy="2834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28523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Requests</a:t>
            </a:r>
            <a:endParaRPr lang="en-US" sz="1180" dirty="0"/>
          </a:p>
        </p:txBody>
      </p:sp>
      <p:sp>
        <p:nvSpPr>
          <p:cNvPr id="42" name="Text 35"/>
          <p:cNvSpPr/>
          <p:nvPr/>
        </p:nvSpPr>
        <p:spPr>
          <a:xfrm>
            <a:off x="528523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for gaming credit inquiry routing and host follow-up.</a:t>
            </a:r>
            <a:endParaRPr lang="en-US" sz="820" dirty="0"/>
          </a:p>
        </p:txBody>
      </p:sp>
      <p:sp>
        <p:nvSpPr>
          <p:cNvPr id="43" name="Text 36"/>
          <p:cNvSpPr/>
          <p:nvPr/>
        </p:nvSpPr>
        <p:spPr>
          <a:xfrm>
            <a:off x="528523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660" dirty="0"/>
          </a:p>
        </p:txBody>
      </p:sp>
      <p:sp>
        <p:nvSpPr>
          <p:cNvPr id="44" name="Shape 37"/>
          <p:cNvSpPr/>
          <p:nvPr/>
        </p:nvSpPr>
        <p:spPr>
          <a:xfrm>
            <a:off x="821131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8412480" y="3520440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22208" y="3630168"/>
            <a:ext cx="283464" cy="28346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903427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Gaming</a:t>
            </a:r>
            <a:endParaRPr lang="en-US" sz="1180" dirty="0"/>
          </a:p>
        </p:txBody>
      </p:sp>
      <p:sp>
        <p:nvSpPr>
          <p:cNvPr id="48" name="Text 40"/>
          <p:cNvSpPr/>
          <p:nvPr/>
        </p:nvSpPr>
        <p:spPr>
          <a:xfrm>
            <a:off x="903427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table request, group gaming and exclusive casino experiences.</a:t>
            </a:r>
            <a:endParaRPr lang="en-US" sz="820" dirty="0"/>
          </a:p>
        </p:txBody>
      </p:sp>
      <p:sp>
        <p:nvSpPr>
          <p:cNvPr id="49" name="Text 41"/>
          <p:cNvSpPr/>
          <p:nvPr/>
        </p:nvSpPr>
        <p:spPr>
          <a:xfrm>
            <a:off x="903427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</a:t>
            </a:r>
            <a:endParaRPr lang="en-US" sz="660" dirty="0"/>
          </a:p>
        </p:txBody>
      </p:sp>
      <p:sp>
        <p:nvSpPr>
          <p:cNvPr id="50" name="Shape 42"/>
          <p:cNvSpPr/>
          <p:nvPr/>
        </p:nvSpPr>
        <p:spPr>
          <a:xfrm>
            <a:off x="749808" y="5742432"/>
            <a:ext cx="10744200" cy="457200"/>
          </a:xfrm>
          <a:prstGeom prst="roundRect">
            <a:avLst>
              <a:gd name="adj" fmla="val 20000"/>
            </a:avLst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1005840" y="5897880"/>
            <a:ext cx="10195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where Stratink Elite can separate itself from standard hotel guest apps.</a:t>
            </a:r>
            <a:endParaRPr lang="en-US" sz="10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92608"/>
            <a:ext cx="438912" cy="438912"/>
          </a:xfrm>
          <a:prstGeom prst="hexagon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393192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10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Guest Experience Platform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28346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32520" y="512064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Hotels • Resorts • Casinos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566928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dining and nightlife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85216" y="14173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guests can request the experiences that generate premium hospitality revenue.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02920" y="6446520"/>
            <a:ext cx="11201400" cy="1"/>
          </a:xfrm>
          <a:prstGeom prst="line">
            <a:avLst/>
          </a:prstGeom>
          <a:noFill/>
          <a:ln w="12700">
            <a:solidFill>
              <a:srgbClr val="E5D8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652881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320272" y="652881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1323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167128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2276856"/>
            <a:ext cx="283464" cy="28346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619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Chef Table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153619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Chef table, tasting menu, private dining room and special occasion setup.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153619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Dining</a:t>
            </a:r>
            <a:endParaRPr lang="en-US" sz="660" dirty="0"/>
          </a:p>
        </p:txBody>
      </p:sp>
      <p:sp>
        <p:nvSpPr>
          <p:cNvPr id="20" name="Shape 17"/>
          <p:cNvSpPr/>
          <p:nvPr/>
        </p:nvSpPr>
        <p:spPr>
          <a:xfrm>
            <a:off x="446227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2167128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3168" y="2276856"/>
            <a:ext cx="283464" cy="28346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8523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In-Suite Dining</a:t>
            </a:r>
            <a:endParaRPr lang="en-US" sz="1180" dirty="0"/>
          </a:p>
        </p:txBody>
      </p:sp>
      <p:sp>
        <p:nvSpPr>
          <p:cNvPr id="24" name="Text 20"/>
          <p:cNvSpPr/>
          <p:nvPr/>
        </p:nvSpPr>
        <p:spPr>
          <a:xfrm>
            <a:off x="528523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room dining, celebration setup, wine pairing and personalized menu.</a:t>
            </a:r>
            <a:endParaRPr lang="en-US" sz="820" dirty="0"/>
          </a:p>
        </p:txBody>
      </p:sp>
      <p:sp>
        <p:nvSpPr>
          <p:cNvPr id="25" name="Text 21"/>
          <p:cNvSpPr/>
          <p:nvPr/>
        </p:nvSpPr>
        <p:spPr>
          <a:xfrm>
            <a:off x="528523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Suite Dining</a:t>
            </a:r>
            <a:endParaRPr lang="en-US" sz="660" dirty="0"/>
          </a:p>
        </p:txBody>
      </p:sp>
      <p:sp>
        <p:nvSpPr>
          <p:cNvPr id="26" name="Shape 22"/>
          <p:cNvSpPr/>
          <p:nvPr/>
        </p:nvSpPr>
        <p:spPr>
          <a:xfrm>
            <a:off x="821131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412480" y="2167128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22208" y="2276856"/>
            <a:ext cx="283464" cy="28346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03427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&amp; Spirits</a:t>
            </a:r>
            <a:endParaRPr lang="en-US" sz="1180" dirty="0"/>
          </a:p>
        </p:txBody>
      </p:sp>
      <p:sp>
        <p:nvSpPr>
          <p:cNvPr id="30" name="Text 25"/>
          <p:cNvSpPr/>
          <p:nvPr/>
        </p:nvSpPr>
        <p:spPr>
          <a:xfrm>
            <a:off x="903427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Sommelier service, bottle service, champagne, cocktail setup and rare wine requests.</a:t>
            </a:r>
            <a:endParaRPr lang="en-US" sz="820" dirty="0"/>
          </a:p>
        </p:txBody>
      </p:sp>
      <p:sp>
        <p:nvSpPr>
          <p:cNvPr id="31" name="Text 26"/>
          <p:cNvSpPr/>
          <p:nvPr/>
        </p:nvSpPr>
        <p:spPr>
          <a:xfrm>
            <a:off x="903427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</a:t>
            </a:r>
            <a:endParaRPr lang="en-US" sz="660" dirty="0"/>
          </a:p>
        </p:txBody>
      </p:sp>
      <p:sp>
        <p:nvSpPr>
          <p:cNvPr id="32" name="Shape 27"/>
          <p:cNvSpPr/>
          <p:nvPr/>
        </p:nvSpPr>
        <p:spPr>
          <a:xfrm>
            <a:off x="71323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14400" y="3520440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4128" y="3630168"/>
            <a:ext cx="283464" cy="28346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53619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Nightclub Access</a:t>
            </a:r>
            <a:endParaRPr lang="en-US" sz="1180" dirty="0"/>
          </a:p>
        </p:txBody>
      </p:sp>
      <p:sp>
        <p:nvSpPr>
          <p:cNvPr id="36" name="Text 30"/>
          <p:cNvSpPr/>
          <p:nvPr/>
        </p:nvSpPr>
        <p:spPr>
          <a:xfrm>
            <a:off x="153619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table, priority entry, bottle service and lounge reservations.</a:t>
            </a:r>
            <a:endParaRPr lang="en-US" sz="820" dirty="0"/>
          </a:p>
        </p:txBody>
      </p:sp>
      <p:sp>
        <p:nvSpPr>
          <p:cNvPr id="37" name="Text 31"/>
          <p:cNvSpPr/>
          <p:nvPr/>
        </p:nvSpPr>
        <p:spPr>
          <a:xfrm>
            <a:off x="153619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Nightlife</a:t>
            </a:r>
            <a:endParaRPr lang="en-US" sz="660" dirty="0"/>
          </a:p>
        </p:txBody>
      </p:sp>
      <p:sp>
        <p:nvSpPr>
          <p:cNvPr id="38" name="Shape 32"/>
          <p:cNvSpPr/>
          <p:nvPr/>
        </p:nvSpPr>
        <p:spPr>
          <a:xfrm>
            <a:off x="446227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663440" y="3520440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3168" y="3630168"/>
            <a:ext cx="283464" cy="2834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28523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 Priority</a:t>
            </a:r>
            <a:endParaRPr lang="en-US" sz="1180" dirty="0"/>
          </a:p>
        </p:txBody>
      </p:sp>
      <p:sp>
        <p:nvSpPr>
          <p:cNvPr id="42" name="Text 35"/>
          <p:cNvSpPr/>
          <p:nvPr/>
        </p:nvSpPr>
        <p:spPr>
          <a:xfrm>
            <a:off x="528523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Fast-track restaurant reservations and special seating requests.</a:t>
            </a:r>
            <a:endParaRPr lang="en-US" sz="820" dirty="0"/>
          </a:p>
        </p:txBody>
      </p:sp>
      <p:sp>
        <p:nvSpPr>
          <p:cNvPr id="43" name="Text 36"/>
          <p:cNvSpPr/>
          <p:nvPr/>
        </p:nvSpPr>
        <p:spPr>
          <a:xfrm>
            <a:off x="528523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</a:t>
            </a:r>
            <a:endParaRPr lang="en-US" sz="660" dirty="0"/>
          </a:p>
        </p:txBody>
      </p:sp>
      <p:sp>
        <p:nvSpPr>
          <p:cNvPr id="44" name="Shape 37"/>
          <p:cNvSpPr/>
          <p:nvPr/>
        </p:nvSpPr>
        <p:spPr>
          <a:xfrm>
            <a:off x="821131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8412480" y="3520440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22208" y="3630168"/>
            <a:ext cx="283464" cy="28346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903427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Dietary Preferences</a:t>
            </a:r>
            <a:endParaRPr lang="en-US" sz="1180" dirty="0"/>
          </a:p>
        </p:txBody>
      </p:sp>
      <p:sp>
        <p:nvSpPr>
          <p:cNvPr id="48" name="Text 40"/>
          <p:cNvSpPr/>
          <p:nvPr/>
        </p:nvSpPr>
        <p:spPr>
          <a:xfrm>
            <a:off x="903427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Preference memory for allergies, restrictions and favorite items.</a:t>
            </a:r>
            <a:endParaRPr lang="en-US" sz="820" dirty="0"/>
          </a:p>
        </p:txBody>
      </p:sp>
      <p:sp>
        <p:nvSpPr>
          <p:cNvPr id="49" name="Text 41"/>
          <p:cNvSpPr/>
          <p:nvPr/>
        </p:nvSpPr>
        <p:spPr>
          <a:xfrm>
            <a:off x="903427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Personalized</a:t>
            </a:r>
            <a:endParaRPr lang="en-US" sz="660" dirty="0"/>
          </a:p>
        </p:txBody>
      </p:sp>
      <p:sp>
        <p:nvSpPr>
          <p:cNvPr id="50" name="Shape 42"/>
          <p:cNvSpPr/>
          <p:nvPr/>
        </p:nvSpPr>
        <p:spPr>
          <a:xfrm>
            <a:off x="749808" y="5742432"/>
            <a:ext cx="10744200" cy="457200"/>
          </a:xfrm>
          <a:prstGeom prst="roundRect">
            <a:avLst>
              <a:gd name="adj" fmla="val 20000"/>
            </a:avLst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1005840" y="5897880"/>
            <a:ext cx="10195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Dining and nightlife become premium revenue channels, not just concierge requests.</a:t>
            </a:r>
            <a:endParaRPr lang="en-US" sz="10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92608"/>
            <a:ext cx="438912" cy="438912"/>
          </a:xfrm>
          <a:prstGeom prst="hexagon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393192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10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Guest Experience Platform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28346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32520" y="512064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Hotels • Resorts • Casinos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566928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Entertainment and exclusive access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85216" y="14173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VIP module for events, shows, sports and invitation-only experiences.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02920" y="6446520"/>
            <a:ext cx="11201400" cy="1"/>
          </a:xfrm>
          <a:prstGeom prst="line">
            <a:avLst/>
          </a:prstGeom>
          <a:noFill/>
          <a:ln w="12700">
            <a:solidFill>
              <a:srgbClr val="E5D8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652881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320272" y="652881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1323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167128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2276856"/>
            <a:ext cx="283464" cy="28346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619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Concert Access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153619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seats, front-row requests, show bookings and artist event invitations.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153619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Concerts</a:t>
            </a:r>
            <a:endParaRPr lang="en-US" sz="660" dirty="0"/>
          </a:p>
        </p:txBody>
      </p:sp>
      <p:sp>
        <p:nvSpPr>
          <p:cNvPr id="20" name="Shape 17"/>
          <p:cNvSpPr/>
          <p:nvPr/>
        </p:nvSpPr>
        <p:spPr>
          <a:xfrm>
            <a:off x="446227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2167128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3168" y="2276856"/>
            <a:ext cx="283464" cy="28346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8523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Theatre &amp; Comedy</a:t>
            </a:r>
            <a:endParaRPr lang="en-US" sz="1180" dirty="0"/>
          </a:p>
        </p:txBody>
      </p:sp>
      <p:sp>
        <p:nvSpPr>
          <p:cNvPr id="24" name="Text 20"/>
          <p:cNvSpPr/>
          <p:nvPr/>
        </p:nvSpPr>
        <p:spPr>
          <a:xfrm>
            <a:off x="528523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Comedy shows, theatre reservations and entertainment scheduling.</a:t>
            </a:r>
            <a:endParaRPr lang="en-US" sz="820" dirty="0"/>
          </a:p>
        </p:txBody>
      </p:sp>
      <p:sp>
        <p:nvSpPr>
          <p:cNvPr id="25" name="Text 21"/>
          <p:cNvSpPr/>
          <p:nvPr/>
        </p:nvSpPr>
        <p:spPr>
          <a:xfrm>
            <a:off x="528523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</a:t>
            </a:r>
            <a:endParaRPr lang="en-US" sz="660" dirty="0"/>
          </a:p>
        </p:txBody>
      </p:sp>
      <p:sp>
        <p:nvSpPr>
          <p:cNvPr id="26" name="Shape 22"/>
          <p:cNvSpPr/>
          <p:nvPr/>
        </p:nvSpPr>
        <p:spPr>
          <a:xfrm>
            <a:off x="821131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412480" y="2167128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22208" y="2276856"/>
            <a:ext cx="283464" cy="28346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03427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Sporting Events</a:t>
            </a:r>
            <a:endParaRPr lang="en-US" sz="1180" dirty="0"/>
          </a:p>
        </p:txBody>
      </p:sp>
      <p:sp>
        <p:nvSpPr>
          <p:cNvPr id="30" name="Text 25"/>
          <p:cNvSpPr/>
          <p:nvPr/>
        </p:nvSpPr>
        <p:spPr>
          <a:xfrm>
            <a:off x="903427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tickets, box seats, transportation and event-day itinerary.</a:t>
            </a:r>
            <a:endParaRPr lang="en-US" sz="820" dirty="0"/>
          </a:p>
        </p:txBody>
      </p:sp>
      <p:sp>
        <p:nvSpPr>
          <p:cNvPr id="31" name="Text 26"/>
          <p:cNvSpPr/>
          <p:nvPr/>
        </p:nvSpPr>
        <p:spPr>
          <a:xfrm>
            <a:off x="903427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Sports</a:t>
            </a:r>
            <a:endParaRPr lang="en-US" sz="660" dirty="0"/>
          </a:p>
        </p:txBody>
      </p:sp>
      <p:sp>
        <p:nvSpPr>
          <p:cNvPr id="32" name="Shape 27"/>
          <p:cNvSpPr/>
          <p:nvPr/>
        </p:nvSpPr>
        <p:spPr>
          <a:xfrm>
            <a:off x="71323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14400" y="3520440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4128" y="3630168"/>
            <a:ext cx="283464" cy="28346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53619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Events</a:t>
            </a:r>
            <a:endParaRPr lang="en-US" sz="1180" dirty="0"/>
          </a:p>
        </p:txBody>
      </p:sp>
      <p:sp>
        <p:nvSpPr>
          <p:cNvPr id="36" name="Text 30"/>
          <p:cNvSpPr/>
          <p:nvPr/>
        </p:nvSpPr>
        <p:spPr>
          <a:xfrm>
            <a:off x="153619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Invitation-only dining, brand events, casino events and lounge experiences.</a:t>
            </a:r>
            <a:endParaRPr lang="en-US" sz="820" dirty="0"/>
          </a:p>
        </p:txBody>
      </p:sp>
      <p:sp>
        <p:nvSpPr>
          <p:cNvPr id="37" name="Text 31"/>
          <p:cNvSpPr/>
          <p:nvPr/>
        </p:nvSpPr>
        <p:spPr>
          <a:xfrm>
            <a:off x="153619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</a:t>
            </a:r>
            <a:endParaRPr lang="en-US" sz="660" dirty="0"/>
          </a:p>
        </p:txBody>
      </p:sp>
      <p:sp>
        <p:nvSpPr>
          <p:cNvPr id="38" name="Shape 32"/>
          <p:cNvSpPr/>
          <p:nvPr/>
        </p:nvSpPr>
        <p:spPr>
          <a:xfrm>
            <a:off x="446227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663440" y="3520440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3168" y="3630168"/>
            <a:ext cx="283464" cy="2834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28523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Backstage Hospitality</a:t>
            </a:r>
            <a:endParaRPr lang="en-US" sz="1180" dirty="0"/>
          </a:p>
        </p:txBody>
      </p:sp>
      <p:sp>
        <p:nvSpPr>
          <p:cNvPr id="42" name="Text 35"/>
          <p:cNvSpPr/>
          <p:nvPr/>
        </p:nvSpPr>
        <p:spPr>
          <a:xfrm>
            <a:off x="528523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Meet-and-greet opportunities and special hospitality packages when available.</a:t>
            </a:r>
            <a:endParaRPr lang="en-US" sz="820" dirty="0"/>
          </a:p>
        </p:txBody>
      </p:sp>
      <p:sp>
        <p:nvSpPr>
          <p:cNvPr id="43" name="Text 36"/>
          <p:cNvSpPr/>
          <p:nvPr/>
        </p:nvSpPr>
        <p:spPr>
          <a:xfrm>
            <a:off x="528523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Backstage</a:t>
            </a:r>
            <a:endParaRPr lang="en-US" sz="660" dirty="0"/>
          </a:p>
        </p:txBody>
      </p:sp>
      <p:sp>
        <p:nvSpPr>
          <p:cNvPr id="44" name="Shape 37"/>
          <p:cNvSpPr/>
          <p:nvPr/>
        </p:nvSpPr>
        <p:spPr>
          <a:xfrm>
            <a:off x="821131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8412480" y="3520440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22208" y="3630168"/>
            <a:ext cx="283464" cy="28346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903427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Resort Calendar</a:t>
            </a:r>
            <a:endParaRPr lang="en-US" sz="1180" dirty="0"/>
          </a:p>
        </p:txBody>
      </p:sp>
      <p:sp>
        <p:nvSpPr>
          <p:cNvPr id="48" name="Text 40"/>
          <p:cNvSpPr/>
          <p:nvPr/>
        </p:nvSpPr>
        <p:spPr>
          <a:xfrm>
            <a:off x="903427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 sees curated VIP events during the stay.</a:t>
            </a:r>
            <a:endParaRPr lang="en-US" sz="820" dirty="0"/>
          </a:p>
        </p:txBody>
      </p:sp>
      <p:sp>
        <p:nvSpPr>
          <p:cNvPr id="49" name="Text 41"/>
          <p:cNvSpPr/>
          <p:nvPr/>
        </p:nvSpPr>
        <p:spPr>
          <a:xfrm>
            <a:off x="903427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</a:t>
            </a:r>
            <a:endParaRPr lang="en-US" sz="660" dirty="0"/>
          </a:p>
        </p:txBody>
      </p:sp>
      <p:sp>
        <p:nvSpPr>
          <p:cNvPr id="50" name="Shape 42"/>
          <p:cNvSpPr/>
          <p:nvPr/>
        </p:nvSpPr>
        <p:spPr>
          <a:xfrm>
            <a:off x="749808" y="5742432"/>
            <a:ext cx="10744200" cy="457200"/>
          </a:xfrm>
          <a:prstGeom prst="roundRect">
            <a:avLst>
              <a:gd name="adj" fmla="val 20000"/>
            </a:avLst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1005840" y="5897880"/>
            <a:ext cx="10195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Entertainment access is a luxury differentiator for casino resorts and high-end hotels.</a:t>
            </a:r>
            <a:endParaRPr lang="en-US" sz="10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92608"/>
            <a:ext cx="438912" cy="438912"/>
          </a:xfrm>
          <a:prstGeom prst="hexagon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393192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10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Guest Experience Platform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28346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32520" y="512064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Hotels • Resorts • Casinos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566928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resort privileges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85216" y="14173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High-value guests get priority access to the best resort experiences.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02920" y="6446520"/>
            <a:ext cx="11201400" cy="1"/>
          </a:xfrm>
          <a:prstGeom prst="line">
            <a:avLst/>
          </a:prstGeom>
          <a:noFill/>
          <a:ln w="12700">
            <a:solidFill>
              <a:srgbClr val="E5D8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652881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320272" y="652881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1323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167128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2276856"/>
            <a:ext cx="283464" cy="28346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619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Cabanas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153619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pool cabanas, daybeds, cabana attendants and poolside food and beverage.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153619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Cabanas</a:t>
            </a:r>
            <a:endParaRPr lang="en-US" sz="660" dirty="0"/>
          </a:p>
        </p:txBody>
      </p:sp>
      <p:sp>
        <p:nvSpPr>
          <p:cNvPr id="20" name="Shape 17"/>
          <p:cNvSpPr/>
          <p:nvPr/>
        </p:nvSpPr>
        <p:spPr>
          <a:xfrm>
            <a:off x="446227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2167128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3168" y="2276856"/>
            <a:ext cx="283464" cy="28346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8523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 Priority</a:t>
            </a:r>
            <a:endParaRPr lang="en-US" sz="1180" dirty="0"/>
          </a:p>
        </p:txBody>
      </p:sp>
      <p:sp>
        <p:nvSpPr>
          <p:cNvPr id="24" name="Text 20"/>
          <p:cNvSpPr/>
          <p:nvPr/>
        </p:nvSpPr>
        <p:spPr>
          <a:xfrm>
            <a:off x="528523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massage, facials, wellness appointments and VIP packages.</a:t>
            </a:r>
            <a:endParaRPr lang="en-US" sz="820" dirty="0"/>
          </a:p>
        </p:txBody>
      </p:sp>
      <p:sp>
        <p:nvSpPr>
          <p:cNvPr id="25" name="Text 21"/>
          <p:cNvSpPr/>
          <p:nvPr/>
        </p:nvSpPr>
        <p:spPr>
          <a:xfrm>
            <a:off x="528523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</a:t>
            </a:r>
            <a:endParaRPr lang="en-US" sz="660" dirty="0"/>
          </a:p>
        </p:txBody>
      </p:sp>
      <p:sp>
        <p:nvSpPr>
          <p:cNvPr id="26" name="Shape 22"/>
          <p:cNvSpPr/>
          <p:nvPr/>
        </p:nvSpPr>
        <p:spPr>
          <a:xfrm>
            <a:off x="821131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412480" y="2167128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22208" y="2276856"/>
            <a:ext cx="283464" cy="28346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03427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Golf Priority</a:t>
            </a:r>
            <a:endParaRPr lang="en-US" sz="1180" dirty="0"/>
          </a:p>
        </p:txBody>
      </p:sp>
      <p:sp>
        <p:nvSpPr>
          <p:cNvPr id="30" name="Text 25"/>
          <p:cNvSpPr/>
          <p:nvPr/>
        </p:nvSpPr>
        <p:spPr>
          <a:xfrm>
            <a:off x="903427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tee times, club rentals, lessons and tournament packages.</a:t>
            </a:r>
            <a:endParaRPr lang="en-US" sz="820" dirty="0"/>
          </a:p>
        </p:txBody>
      </p:sp>
      <p:sp>
        <p:nvSpPr>
          <p:cNvPr id="31" name="Text 26"/>
          <p:cNvSpPr/>
          <p:nvPr/>
        </p:nvSpPr>
        <p:spPr>
          <a:xfrm>
            <a:off x="903427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Golf</a:t>
            </a:r>
            <a:endParaRPr lang="en-US" sz="660" dirty="0"/>
          </a:p>
        </p:txBody>
      </p:sp>
      <p:sp>
        <p:nvSpPr>
          <p:cNvPr id="32" name="Shape 27"/>
          <p:cNvSpPr/>
          <p:nvPr/>
        </p:nvSpPr>
        <p:spPr>
          <a:xfrm>
            <a:off x="71323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14400" y="3520440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4128" y="3630168"/>
            <a:ext cx="283464" cy="28346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53619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Beach Service</a:t>
            </a:r>
            <a:endParaRPr lang="en-US" sz="1180" dirty="0"/>
          </a:p>
        </p:txBody>
      </p:sp>
      <p:sp>
        <p:nvSpPr>
          <p:cNvPr id="36" name="Text 30"/>
          <p:cNvSpPr/>
          <p:nvPr/>
        </p:nvSpPr>
        <p:spPr>
          <a:xfrm>
            <a:off x="153619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Reserved beach seating, umbrellas, beverage service and private beach cabanas.</a:t>
            </a:r>
            <a:endParaRPr lang="en-US" sz="820" dirty="0"/>
          </a:p>
        </p:txBody>
      </p:sp>
      <p:sp>
        <p:nvSpPr>
          <p:cNvPr id="37" name="Text 31"/>
          <p:cNvSpPr/>
          <p:nvPr/>
        </p:nvSpPr>
        <p:spPr>
          <a:xfrm>
            <a:off x="153619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Beach</a:t>
            </a:r>
            <a:endParaRPr lang="en-US" sz="660" dirty="0"/>
          </a:p>
        </p:txBody>
      </p:sp>
      <p:sp>
        <p:nvSpPr>
          <p:cNvPr id="38" name="Shape 32"/>
          <p:cNvSpPr/>
          <p:nvPr/>
        </p:nvSpPr>
        <p:spPr>
          <a:xfrm>
            <a:off x="446227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663440" y="3520440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3168" y="3630168"/>
            <a:ext cx="283464" cy="2834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28523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Concierge</a:t>
            </a:r>
            <a:endParaRPr lang="en-US" sz="1180" dirty="0"/>
          </a:p>
        </p:txBody>
      </p:sp>
      <p:sp>
        <p:nvSpPr>
          <p:cNvPr id="42" name="Text 35"/>
          <p:cNvSpPr/>
          <p:nvPr/>
        </p:nvSpPr>
        <p:spPr>
          <a:xfrm>
            <a:off x="528523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Kids club, childcare, family excursions and itinerary planning.</a:t>
            </a:r>
            <a:endParaRPr lang="en-US" sz="820" dirty="0"/>
          </a:p>
        </p:txBody>
      </p:sp>
      <p:sp>
        <p:nvSpPr>
          <p:cNvPr id="43" name="Text 36"/>
          <p:cNvSpPr/>
          <p:nvPr/>
        </p:nvSpPr>
        <p:spPr>
          <a:xfrm>
            <a:off x="528523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</a:t>
            </a:r>
            <a:endParaRPr lang="en-US" sz="660" dirty="0"/>
          </a:p>
        </p:txBody>
      </p:sp>
      <p:sp>
        <p:nvSpPr>
          <p:cNvPr id="44" name="Shape 37"/>
          <p:cNvSpPr/>
          <p:nvPr/>
        </p:nvSpPr>
        <p:spPr>
          <a:xfrm>
            <a:off x="821131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8412480" y="3520440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22208" y="3630168"/>
            <a:ext cx="283464" cy="28346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903427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Resort Host</a:t>
            </a:r>
            <a:endParaRPr lang="en-US" sz="1180" dirty="0"/>
          </a:p>
        </p:txBody>
      </p:sp>
      <p:sp>
        <p:nvSpPr>
          <p:cNvPr id="48" name="Text 40"/>
          <p:cNvSpPr/>
          <p:nvPr/>
        </p:nvSpPr>
        <p:spPr>
          <a:xfrm>
            <a:off x="903427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point of contact across pool, spa, beach, golf and activities.</a:t>
            </a:r>
            <a:endParaRPr lang="en-US" sz="820" dirty="0"/>
          </a:p>
        </p:txBody>
      </p:sp>
      <p:sp>
        <p:nvSpPr>
          <p:cNvPr id="49" name="Text 41"/>
          <p:cNvSpPr/>
          <p:nvPr/>
        </p:nvSpPr>
        <p:spPr>
          <a:xfrm>
            <a:off x="903427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Resort</a:t>
            </a:r>
            <a:endParaRPr lang="en-US" sz="660" dirty="0"/>
          </a:p>
        </p:txBody>
      </p:sp>
      <p:sp>
        <p:nvSpPr>
          <p:cNvPr id="50" name="Shape 42"/>
          <p:cNvSpPr/>
          <p:nvPr/>
        </p:nvSpPr>
        <p:spPr>
          <a:xfrm>
            <a:off x="749808" y="5742432"/>
            <a:ext cx="10744200" cy="457200"/>
          </a:xfrm>
          <a:prstGeom prst="roundRect">
            <a:avLst>
              <a:gd name="adj" fmla="val 20000"/>
            </a:avLst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1005840" y="5897880"/>
            <a:ext cx="10195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turns resort amenities into personalized VIP privileges.</a:t>
            </a:r>
            <a:endParaRPr lang="en-US" sz="10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92608"/>
            <a:ext cx="438912" cy="438912"/>
          </a:xfrm>
          <a:prstGeom prst="hexagon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393192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10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Guest Experience Platform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28346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32520" y="512064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Hotels • Resorts • Casinos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566928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experiences marketplace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85216" y="14173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Curated luxury experiences that standard hotel apps usually do not emphasize.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02920" y="6446520"/>
            <a:ext cx="11201400" cy="1"/>
          </a:xfrm>
          <a:prstGeom prst="line">
            <a:avLst/>
          </a:prstGeom>
          <a:noFill/>
          <a:ln w="12700">
            <a:solidFill>
              <a:srgbClr val="E5D8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652881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320272" y="652881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1323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167128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2276856"/>
            <a:ext cx="283464" cy="28346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619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Yacht Charter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153619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Yacht, boat, sunset cruise and private water experiences.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153619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Yacht</a:t>
            </a:r>
            <a:endParaRPr lang="en-US" sz="660" dirty="0"/>
          </a:p>
        </p:txBody>
      </p:sp>
      <p:sp>
        <p:nvSpPr>
          <p:cNvPr id="20" name="Shape 17"/>
          <p:cNvSpPr/>
          <p:nvPr/>
        </p:nvSpPr>
        <p:spPr>
          <a:xfrm>
            <a:off x="446227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2167128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3168" y="2276856"/>
            <a:ext cx="283464" cy="28346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8523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Helicopter Tour</a:t>
            </a:r>
            <a:endParaRPr lang="en-US" sz="1180" dirty="0"/>
          </a:p>
        </p:txBody>
      </p:sp>
      <p:sp>
        <p:nvSpPr>
          <p:cNvPr id="24" name="Text 20"/>
          <p:cNvSpPr/>
          <p:nvPr/>
        </p:nvSpPr>
        <p:spPr>
          <a:xfrm>
            <a:off x="528523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Helicopter transfers, scenic tours and premium arrival options.</a:t>
            </a:r>
            <a:endParaRPr lang="en-US" sz="820" dirty="0"/>
          </a:p>
        </p:txBody>
      </p:sp>
      <p:sp>
        <p:nvSpPr>
          <p:cNvPr id="25" name="Text 21"/>
          <p:cNvSpPr/>
          <p:nvPr/>
        </p:nvSpPr>
        <p:spPr>
          <a:xfrm>
            <a:off x="528523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Helicopter</a:t>
            </a:r>
            <a:endParaRPr lang="en-US" sz="660" dirty="0"/>
          </a:p>
        </p:txBody>
      </p:sp>
      <p:sp>
        <p:nvSpPr>
          <p:cNvPr id="26" name="Shape 22"/>
          <p:cNvSpPr/>
          <p:nvPr/>
        </p:nvSpPr>
        <p:spPr>
          <a:xfrm>
            <a:off x="821131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412480" y="2167128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22208" y="2276856"/>
            <a:ext cx="283464" cy="28346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03427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&amp; Culinary Tour</a:t>
            </a:r>
            <a:endParaRPr lang="en-US" sz="1180" dirty="0"/>
          </a:p>
        </p:txBody>
      </p:sp>
      <p:sp>
        <p:nvSpPr>
          <p:cNvPr id="30" name="Text 25"/>
          <p:cNvSpPr/>
          <p:nvPr/>
        </p:nvSpPr>
        <p:spPr>
          <a:xfrm>
            <a:off x="903427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tours, food tours, tasting experiences and dining itineraries.</a:t>
            </a:r>
            <a:endParaRPr lang="en-US" sz="820" dirty="0"/>
          </a:p>
        </p:txBody>
      </p:sp>
      <p:sp>
        <p:nvSpPr>
          <p:cNvPr id="31" name="Text 26"/>
          <p:cNvSpPr/>
          <p:nvPr/>
        </p:nvSpPr>
        <p:spPr>
          <a:xfrm>
            <a:off x="903427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Culinary</a:t>
            </a:r>
            <a:endParaRPr lang="en-US" sz="660" dirty="0"/>
          </a:p>
        </p:txBody>
      </p:sp>
      <p:sp>
        <p:nvSpPr>
          <p:cNvPr id="32" name="Shape 27"/>
          <p:cNvSpPr/>
          <p:nvPr/>
        </p:nvSpPr>
        <p:spPr>
          <a:xfrm>
            <a:off x="71323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14400" y="3520440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4128" y="3630168"/>
            <a:ext cx="283464" cy="28346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53619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Luxury Retail</a:t>
            </a:r>
            <a:endParaRPr lang="en-US" sz="1180" dirty="0"/>
          </a:p>
        </p:txBody>
      </p:sp>
      <p:sp>
        <p:nvSpPr>
          <p:cNvPr id="36" name="Text 30"/>
          <p:cNvSpPr/>
          <p:nvPr/>
        </p:nvSpPr>
        <p:spPr>
          <a:xfrm>
            <a:off x="153619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shopping, jewelry appointments, stylist bookings and gift sourcing.</a:t>
            </a:r>
            <a:endParaRPr lang="en-US" sz="820" dirty="0"/>
          </a:p>
        </p:txBody>
      </p:sp>
      <p:sp>
        <p:nvSpPr>
          <p:cNvPr id="37" name="Text 31"/>
          <p:cNvSpPr/>
          <p:nvPr/>
        </p:nvSpPr>
        <p:spPr>
          <a:xfrm>
            <a:off x="153619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</a:t>
            </a:r>
            <a:endParaRPr lang="en-US" sz="660" dirty="0"/>
          </a:p>
        </p:txBody>
      </p:sp>
      <p:sp>
        <p:nvSpPr>
          <p:cNvPr id="38" name="Shape 32"/>
          <p:cNvSpPr/>
          <p:nvPr/>
        </p:nvSpPr>
        <p:spPr>
          <a:xfrm>
            <a:off x="446227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663440" y="3520440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3168" y="3630168"/>
            <a:ext cx="283464" cy="2834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28523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Exotic Vehicle</a:t>
            </a:r>
            <a:endParaRPr lang="en-US" sz="1180" dirty="0"/>
          </a:p>
        </p:txBody>
      </p:sp>
      <p:sp>
        <p:nvSpPr>
          <p:cNvPr id="42" name="Text 35"/>
          <p:cNvSpPr/>
          <p:nvPr/>
        </p:nvSpPr>
        <p:spPr>
          <a:xfrm>
            <a:off x="528523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Exotic vehicle rental, luxury SUV and private chauffeur coordination.</a:t>
            </a:r>
            <a:endParaRPr lang="en-US" sz="820" dirty="0"/>
          </a:p>
        </p:txBody>
      </p:sp>
      <p:sp>
        <p:nvSpPr>
          <p:cNvPr id="43" name="Text 36"/>
          <p:cNvSpPr/>
          <p:nvPr/>
        </p:nvSpPr>
        <p:spPr>
          <a:xfrm>
            <a:off x="528523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Vehicles</a:t>
            </a:r>
            <a:endParaRPr lang="en-US" sz="660" dirty="0"/>
          </a:p>
        </p:txBody>
      </p:sp>
      <p:sp>
        <p:nvSpPr>
          <p:cNvPr id="44" name="Shape 37"/>
          <p:cNvSpPr/>
          <p:nvPr/>
        </p:nvSpPr>
        <p:spPr>
          <a:xfrm>
            <a:off x="821131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8412480" y="3520440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22208" y="3630168"/>
            <a:ext cx="283464" cy="28346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903427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Itinerary</a:t>
            </a:r>
            <a:endParaRPr lang="en-US" sz="1180" dirty="0"/>
          </a:p>
        </p:txBody>
      </p:sp>
      <p:sp>
        <p:nvSpPr>
          <p:cNvPr id="48" name="Text 40"/>
          <p:cNvSpPr/>
          <p:nvPr/>
        </p:nvSpPr>
        <p:spPr>
          <a:xfrm>
            <a:off x="903427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plus human host can build multi-day luxury itineraries.</a:t>
            </a:r>
            <a:endParaRPr lang="en-US" sz="820" dirty="0"/>
          </a:p>
        </p:txBody>
      </p:sp>
      <p:sp>
        <p:nvSpPr>
          <p:cNvPr id="49" name="Text 41"/>
          <p:cNvSpPr/>
          <p:nvPr/>
        </p:nvSpPr>
        <p:spPr>
          <a:xfrm>
            <a:off x="903427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</a:t>
            </a:r>
            <a:endParaRPr lang="en-US" sz="660" dirty="0"/>
          </a:p>
        </p:txBody>
      </p:sp>
      <p:sp>
        <p:nvSpPr>
          <p:cNvPr id="50" name="Shape 42"/>
          <p:cNvSpPr/>
          <p:nvPr/>
        </p:nvSpPr>
        <p:spPr>
          <a:xfrm>
            <a:off x="749808" y="5742432"/>
            <a:ext cx="10744200" cy="457200"/>
          </a:xfrm>
          <a:prstGeom prst="roundRect">
            <a:avLst>
              <a:gd name="adj" fmla="val 20000"/>
            </a:avLst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1005840" y="5897880"/>
            <a:ext cx="10195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premium experience layer that can make Stratink Elite feel unique.</a:t>
            </a:r>
            <a:endParaRPr lang="en-US" sz="10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92608"/>
            <a:ext cx="438912" cy="438912"/>
          </a:xfrm>
          <a:prstGeom prst="hexagon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393192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10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Guest Experience Platform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28346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32520" y="512064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Hotels • Resorts • Casinos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566928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loyalty and rewards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85216" y="14173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luxury-facing view of the guest value relationship.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02920" y="6446520"/>
            <a:ext cx="11201400" cy="1"/>
          </a:xfrm>
          <a:prstGeom prst="line">
            <a:avLst/>
          </a:prstGeom>
          <a:noFill/>
          <a:ln w="12700">
            <a:solidFill>
              <a:srgbClr val="E5D8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652881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320272" y="652881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1323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167128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2276856"/>
            <a:ext cx="283464" cy="28346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619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Status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153619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tier, membership status and eligibility for benefits.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153619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660" dirty="0"/>
          </a:p>
        </p:txBody>
      </p:sp>
      <p:sp>
        <p:nvSpPr>
          <p:cNvPr id="20" name="Shape 17"/>
          <p:cNvSpPr/>
          <p:nvPr/>
        </p:nvSpPr>
        <p:spPr>
          <a:xfrm>
            <a:off x="446227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2167128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3168" y="2276856"/>
            <a:ext cx="283464" cy="28346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8523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Rewards Balance</a:t>
            </a:r>
            <a:endParaRPr lang="en-US" sz="1180" dirty="0"/>
          </a:p>
        </p:txBody>
      </p:sp>
      <p:sp>
        <p:nvSpPr>
          <p:cNvPr id="24" name="Text 20"/>
          <p:cNvSpPr/>
          <p:nvPr/>
        </p:nvSpPr>
        <p:spPr>
          <a:xfrm>
            <a:off x="528523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Points, comps, credits and available rewards summary.</a:t>
            </a:r>
            <a:endParaRPr lang="en-US" sz="820" dirty="0"/>
          </a:p>
        </p:txBody>
      </p:sp>
      <p:sp>
        <p:nvSpPr>
          <p:cNvPr id="25" name="Text 21"/>
          <p:cNvSpPr/>
          <p:nvPr/>
        </p:nvSpPr>
        <p:spPr>
          <a:xfrm>
            <a:off x="528523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</a:t>
            </a:r>
            <a:endParaRPr lang="en-US" sz="660" dirty="0"/>
          </a:p>
        </p:txBody>
      </p:sp>
      <p:sp>
        <p:nvSpPr>
          <p:cNvPr id="26" name="Shape 22"/>
          <p:cNvSpPr/>
          <p:nvPr/>
        </p:nvSpPr>
        <p:spPr>
          <a:xfrm>
            <a:off x="821131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412480" y="2167128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22208" y="2276856"/>
            <a:ext cx="283464" cy="28346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03427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 Benefits</a:t>
            </a:r>
            <a:endParaRPr lang="en-US" sz="1180" dirty="0"/>
          </a:p>
        </p:txBody>
      </p:sp>
      <p:sp>
        <p:nvSpPr>
          <p:cNvPr id="30" name="Text 25"/>
          <p:cNvSpPr/>
          <p:nvPr/>
        </p:nvSpPr>
        <p:spPr>
          <a:xfrm>
            <a:off x="903427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Dining credits, hotel credits, entertainment offers and upgrade benefits.</a:t>
            </a:r>
            <a:endParaRPr lang="en-US" sz="820" dirty="0"/>
          </a:p>
        </p:txBody>
      </p:sp>
      <p:sp>
        <p:nvSpPr>
          <p:cNvPr id="31" name="Text 26"/>
          <p:cNvSpPr/>
          <p:nvPr/>
        </p:nvSpPr>
        <p:spPr>
          <a:xfrm>
            <a:off x="903427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Comps</a:t>
            </a:r>
            <a:endParaRPr lang="en-US" sz="660" dirty="0"/>
          </a:p>
        </p:txBody>
      </p:sp>
      <p:sp>
        <p:nvSpPr>
          <p:cNvPr id="32" name="Shape 27"/>
          <p:cNvSpPr/>
          <p:nvPr/>
        </p:nvSpPr>
        <p:spPr>
          <a:xfrm>
            <a:off x="71323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14400" y="3520440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4128" y="3630168"/>
            <a:ext cx="283464" cy="28346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53619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Offers</a:t>
            </a:r>
            <a:endParaRPr lang="en-US" sz="1180" dirty="0"/>
          </a:p>
        </p:txBody>
      </p:sp>
      <p:sp>
        <p:nvSpPr>
          <p:cNvPr id="36" name="Text 30"/>
          <p:cNvSpPr/>
          <p:nvPr/>
        </p:nvSpPr>
        <p:spPr>
          <a:xfrm>
            <a:off x="153619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personalized promotions based on stay context and preferences.</a:t>
            </a:r>
            <a:endParaRPr lang="en-US" sz="820" dirty="0"/>
          </a:p>
        </p:txBody>
      </p:sp>
      <p:sp>
        <p:nvSpPr>
          <p:cNvPr id="37" name="Text 31"/>
          <p:cNvSpPr/>
          <p:nvPr/>
        </p:nvSpPr>
        <p:spPr>
          <a:xfrm>
            <a:off x="153619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Offers</a:t>
            </a:r>
            <a:endParaRPr lang="en-US" sz="660" dirty="0"/>
          </a:p>
        </p:txBody>
      </p:sp>
      <p:sp>
        <p:nvSpPr>
          <p:cNvPr id="38" name="Shape 32"/>
          <p:cNvSpPr/>
          <p:nvPr/>
        </p:nvSpPr>
        <p:spPr>
          <a:xfrm>
            <a:off x="446227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663440" y="3520440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3168" y="3630168"/>
            <a:ext cx="283464" cy="2834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28523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Invitations</a:t>
            </a:r>
            <a:endParaRPr lang="en-US" sz="1180" dirty="0"/>
          </a:p>
        </p:txBody>
      </p:sp>
      <p:sp>
        <p:nvSpPr>
          <p:cNvPr id="42" name="Text 35"/>
          <p:cNvSpPr/>
          <p:nvPr/>
        </p:nvSpPr>
        <p:spPr>
          <a:xfrm>
            <a:off x="528523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invitations to gaming, dining, nightlife and resort experiences.</a:t>
            </a:r>
            <a:endParaRPr lang="en-US" sz="820" dirty="0"/>
          </a:p>
        </p:txBody>
      </p:sp>
      <p:sp>
        <p:nvSpPr>
          <p:cNvPr id="43" name="Text 36"/>
          <p:cNvSpPr/>
          <p:nvPr/>
        </p:nvSpPr>
        <p:spPr>
          <a:xfrm>
            <a:off x="528523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Invites</a:t>
            </a:r>
            <a:endParaRPr lang="en-US" sz="660" dirty="0"/>
          </a:p>
        </p:txBody>
      </p:sp>
      <p:sp>
        <p:nvSpPr>
          <p:cNvPr id="44" name="Shape 37"/>
          <p:cNvSpPr/>
          <p:nvPr/>
        </p:nvSpPr>
        <p:spPr>
          <a:xfrm>
            <a:off x="821131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8412480" y="3520440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22208" y="3630168"/>
            <a:ext cx="283464" cy="28346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903427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Follow-Up</a:t>
            </a:r>
            <a:endParaRPr lang="en-US" sz="1180" dirty="0"/>
          </a:p>
        </p:txBody>
      </p:sp>
      <p:sp>
        <p:nvSpPr>
          <p:cNvPr id="48" name="Text 40"/>
          <p:cNvSpPr/>
          <p:nvPr/>
        </p:nvSpPr>
        <p:spPr>
          <a:xfrm>
            <a:off x="903427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host can follow up on benefits, expiring offers and stay opportunities.</a:t>
            </a:r>
            <a:endParaRPr lang="en-US" sz="820" dirty="0"/>
          </a:p>
        </p:txBody>
      </p:sp>
      <p:sp>
        <p:nvSpPr>
          <p:cNvPr id="49" name="Text 41"/>
          <p:cNvSpPr/>
          <p:nvPr/>
        </p:nvSpPr>
        <p:spPr>
          <a:xfrm>
            <a:off x="903427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</a:t>
            </a:r>
            <a:endParaRPr lang="en-US" sz="660" dirty="0"/>
          </a:p>
        </p:txBody>
      </p:sp>
      <p:sp>
        <p:nvSpPr>
          <p:cNvPr id="50" name="Shape 42"/>
          <p:cNvSpPr/>
          <p:nvPr/>
        </p:nvSpPr>
        <p:spPr>
          <a:xfrm>
            <a:off x="749808" y="5742432"/>
            <a:ext cx="10744200" cy="457200"/>
          </a:xfrm>
          <a:prstGeom prst="roundRect">
            <a:avLst>
              <a:gd name="adj" fmla="val 20000"/>
            </a:avLst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1005840" y="5897880"/>
            <a:ext cx="10195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VIP app becomes a loyalty engagement channel, not only a service request tool.</a:t>
            </a:r>
            <a:endParaRPr lang="en-US" sz="10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92608"/>
            <a:ext cx="438912" cy="438912"/>
          </a:xfrm>
          <a:prstGeom prst="hexagon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393192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10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Guest Experience Platform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28346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32520" y="512064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Hotels • Resorts • Casinos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566928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and privacy for VIP guests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85216" y="14173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service requires careful handling of privacy, guest preferences and internal visibility.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02920" y="6446520"/>
            <a:ext cx="11201400" cy="1"/>
          </a:xfrm>
          <a:prstGeom prst="line">
            <a:avLst/>
          </a:prstGeom>
          <a:noFill/>
          <a:ln w="12700">
            <a:solidFill>
              <a:srgbClr val="E5D8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652881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320272" y="652881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1323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167128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2276856"/>
            <a:ext cx="283464" cy="28346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619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Profiles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153619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approved staff can view VIP preferences and stay details.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153619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</a:t>
            </a:r>
            <a:endParaRPr lang="en-US" sz="660" dirty="0"/>
          </a:p>
        </p:txBody>
      </p:sp>
      <p:sp>
        <p:nvSpPr>
          <p:cNvPr id="20" name="Shape 17"/>
          <p:cNvSpPr/>
          <p:nvPr/>
        </p:nvSpPr>
        <p:spPr>
          <a:xfrm>
            <a:off x="446227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2167128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3168" y="2276856"/>
            <a:ext cx="283464" cy="28346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8523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Access</a:t>
            </a:r>
            <a:endParaRPr lang="en-US" sz="1180" dirty="0"/>
          </a:p>
        </p:txBody>
      </p:sp>
      <p:sp>
        <p:nvSpPr>
          <p:cNvPr id="24" name="Text 20"/>
          <p:cNvSpPr/>
          <p:nvPr/>
        </p:nvSpPr>
        <p:spPr>
          <a:xfrm>
            <a:off x="528523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views for host, concierge, casino, dining, spa and management.</a:t>
            </a:r>
            <a:endParaRPr lang="en-US" sz="820" dirty="0"/>
          </a:p>
        </p:txBody>
      </p:sp>
      <p:sp>
        <p:nvSpPr>
          <p:cNvPr id="25" name="Text 21"/>
          <p:cNvSpPr/>
          <p:nvPr/>
        </p:nvSpPr>
        <p:spPr>
          <a:xfrm>
            <a:off x="528523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</a:t>
            </a:r>
            <a:endParaRPr lang="en-US" sz="660" dirty="0"/>
          </a:p>
        </p:txBody>
      </p:sp>
      <p:sp>
        <p:nvSpPr>
          <p:cNvPr id="26" name="Shape 22"/>
          <p:cNvSpPr/>
          <p:nvPr/>
        </p:nvSpPr>
        <p:spPr>
          <a:xfrm>
            <a:off x="821131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412480" y="2167128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22208" y="2276856"/>
            <a:ext cx="283464" cy="28346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03427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Trail</a:t>
            </a:r>
            <a:endParaRPr lang="en-US" sz="1180" dirty="0"/>
          </a:p>
        </p:txBody>
      </p:sp>
      <p:sp>
        <p:nvSpPr>
          <p:cNvPr id="30" name="Text 25"/>
          <p:cNvSpPr/>
          <p:nvPr/>
        </p:nvSpPr>
        <p:spPr>
          <a:xfrm>
            <a:off x="903427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approvals, updates, service actions and request completions.</a:t>
            </a:r>
            <a:endParaRPr lang="en-US" sz="820" dirty="0"/>
          </a:p>
        </p:txBody>
      </p:sp>
      <p:sp>
        <p:nvSpPr>
          <p:cNvPr id="31" name="Text 26"/>
          <p:cNvSpPr/>
          <p:nvPr/>
        </p:nvSpPr>
        <p:spPr>
          <a:xfrm>
            <a:off x="903427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</a:t>
            </a:r>
            <a:endParaRPr lang="en-US" sz="660" dirty="0"/>
          </a:p>
        </p:txBody>
      </p:sp>
      <p:sp>
        <p:nvSpPr>
          <p:cNvPr id="32" name="Shape 27"/>
          <p:cNvSpPr/>
          <p:nvPr/>
        </p:nvSpPr>
        <p:spPr>
          <a:xfrm>
            <a:off x="71323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14400" y="3520440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4128" y="3630168"/>
            <a:ext cx="283464" cy="28346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53619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Requests</a:t>
            </a:r>
            <a:endParaRPr lang="en-US" sz="1180" dirty="0"/>
          </a:p>
        </p:txBody>
      </p:sp>
      <p:sp>
        <p:nvSpPr>
          <p:cNvPr id="36" name="Text 30"/>
          <p:cNvSpPr/>
          <p:nvPr/>
        </p:nvSpPr>
        <p:spPr>
          <a:xfrm>
            <a:off x="153619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transport, security support and special arrangements can be routed discreetly.</a:t>
            </a:r>
            <a:endParaRPr lang="en-US" sz="820" dirty="0"/>
          </a:p>
        </p:txBody>
      </p:sp>
      <p:sp>
        <p:nvSpPr>
          <p:cNvPr id="37" name="Text 31"/>
          <p:cNvSpPr/>
          <p:nvPr/>
        </p:nvSpPr>
        <p:spPr>
          <a:xfrm>
            <a:off x="153619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</a:t>
            </a:r>
            <a:endParaRPr lang="en-US" sz="660" dirty="0"/>
          </a:p>
        </p:txBody>
      </p:sp>
      <p:sp>
        <p:nvSpPr>
          <p:cNvPr id="38" name="Shape 32"/>
          <p:cNvSpPr/>
          <p:nvPr/>
        </p:nvSpPr>
        <p:spPr>
          <a:xfrm>
            <a:off x="446227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663440" y="3520440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3168" y="3630168"/>
            <a:ext cx="283464" cy="2834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28523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 Consent</a:t>
            </a:r>
            <a:endParaRPr lang="en-US" sz="1180" dirty="0"/>
          </a:p>
        </p:txBody>
      </p:sp>
      <p:sp>
        <p:nvSpPr>
          <p:cNvPr id="42" name="Text 35"/>
          <p:cNvSpPr/>
          <p:nvPr/>
        </p:nvSpPr>
        <p:spPr>
          <a:xfrm>
            <a:off x="528523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Preference-sharing and communication settings can be controlled by the guest.</a:t>
            </a:r>
            <a:endParaRPr lang="en-US" sz="820" dirty="0"/>
          </a:p>
        </p:txBody>
      </p:sp>
      <p:sp>
        <p:nvSpPr>
          <p:cNvPr id="43" name="Text 36"/>
          <p:cNvSpPr/>
          <p:nvPr/>
        </p:nvSpPr>
        <p:spPr>
          <a:xfrm>
            <a:off x="528523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</a:t>
            </a:r>
            <a:endParaRPr lang="en-US" sz="660" dirty="0"/>
          </a:p>
        </p:txBody>
      </p:sp>
      <p:sp>
        <p:nvSpPr>
          <p:cNvPr id="44" name="Shape 37"/>
          <p:cNvSpPr/>
          <p:nvPr/>
        </p:nvSpPr>
        <p:spPr>
          <a:xfrm>
            <a:off x="821131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8412480" y="3520440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22208" y="3630168"/>
            <a:ext cx="283464" cy="28346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903427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Oversight</a:t>
            </a:r>
            <a:endParaRPr lang="en-US" sz="1180" dirty="0"/>
          </a:p>
        </p:txBody>
      </p:sp>
      <p:sp>
        <p:nvSpPr>
          <p:cNvPr id="48" name="Text 40"/>
          <p:cNvSpPr/>
          <p:nvPr/>
        </p:nvSpPr>
        <p:spPr>
          <a:xfrm>
            <a:off x="903427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Managers can monitor service quality without exposing unnecessary details.</a:t>
            </a:r>
            <a:endParaRPr lang="en-US" sz="820" dirty="0"/>
          </a:p>
        </p:txBody>
      </p:sp>
      <p:sp>
        <p:nvSpPr>
          <p:cNvPr id="49" name="Text 41"/>
          <p:cNvSpPr/>
          <p:nvPr/>
        </p:nvSpPr>
        <p:spPr>
          <a:xfrm>
            <a:off x="903427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Oversight</a:t>
            </a:r>
            <a:endParaRPr lang="en-US" sz="660" dirty="0"/>
          </a:p>
        </p:txBody>
      </p:sp>
      <p:sp>
        <p:nvSpPr>
          <p:cNvPr id="50" name="Shape 42"/>
          <p:cNvSpPr/>
          <p:nvPr/>
        </p:nvSpPr>
        <p:spPr>
          <a:xfrm>
            <a:off x="749808" y="5742432"/>
            <a:ext cx="10744200" cy="457200"/>
          </a:xfrm>
          <a:prstGeom prst="roundRect">
            <a:avLst>
              <a:gd name="adj" fmla="val 20000"/>
            </a:avLst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1005840" y="5897880"/>
            <a:ext cx="10195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and discretion are part of the VIP product, not an afterthought.</a:t>
            </a:r>
            <a:endParaRPr lang="en-US" sz="10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92608"/>
            <a:ext cx="438912" cy="438912"/>
          </a:xfrm>
          <a:prstGeom prst="hexagon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393192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10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Guest Experience Platform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28346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32520" y="512064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Hotels • Resorts • Casinos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566928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luxury concierge phone screen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85216" y="14173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guests can type natural-language requests instead of navigating long menus.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02920" y="6446520"/>
            <a:ext cx="11201400" cy="1"/>
          </a:xfrm>
          <a:prstGeom prst="line">
            <a:avLst/>
          </a:prstGeom>
          <a:noFill/>
          <a:ln w="12700">
            <a:solidFill>
              <a:srgbClr val="E5D8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652881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320272" y="652881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58952" y="1783080"/>
            <a:ext cx="2907792" cy="4370832"/>
          </a:xfrm>
          <a:prstGeom prst="roundRect">
            <a:avLst>
              <a:gd name="adj" fmla="val 6918"/>
            </a:avLst>
          </a:prstGeom>
          <a:solidFill>
            <a:srgbClr val="F8F6F1"/>
          </a:solidFill>
          <a:ln w="15240">
            <a:solidFill>
              <a:srgbClr val="E5D8B7"/>
            </a:solidFill>
            <a:prstDash val="solid"/>
          </a:ln>
          <a:effectLst>
            <a:outerShdw sx="100000" sy="100000" kx="0" ky="0" algn="bl" rotWithShape="0" blurRad="25400" dist="10160" dir="27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87552" y="2011680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Concierge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78992" y="245059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 Request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078992" y="2596896"/>
            <a:ext cx="228600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2683764"/>
            <a:ext cx="2011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Dinner, massage and airport ride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" y="2980944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Preferred Time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078992" y="3127248"/>
            <a:ext cx="228600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3214116"/>
            <a:ext cx="2011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Tomorrow morning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" y="3511296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078992" y="3657600"/>
            <a:ext cx="228600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3744468"/>
            <a:ext cx="2011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Quiet table, SUV transfer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" y="404164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Follow-Up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078992" y="4187952"/>
            <a:ext cx="228600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4274820"/>
            <a:ext cx="2011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Yes, confirm with my host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87552" y="5074920"/>
            <a:ext cx="2468880" cy="914400"/>
          </a:xfrm>
          <a:prstGeom prst="roundRect">
            <a:avLst>
              <a:gd name="adj" fmla="val 7000"/>
            </a:avLst>
          </a:prstGeom>
          <a:solidFill>
            <a:srgbClr val="ECEFF4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0432" y="5184648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Keyboard input for VIP request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097280" y="5367528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5408676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460" dirty="0"/>
          </a:p>
        </p:txBody>
      </p:sp>
      <p:sp>
        <p:nvSpPr>
          <p:cNvPr id="32" name="Shape 30"/>
          <p:cNvSpPr/>
          <p:nvPr/>
        </p:nvSpPr>
        <p:spPr>
          <a:xfrm>
            <a:off x="1307592" y="5367528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07592" y="5408676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460" dirty="0"/>
          </a:p>
        </p:txBody>
      </p:sp>
      <p:sp>
        <p:nvSpPr>
          <p:cNvPr id="34" name="Shape 32"/>
          <p:cNvSpPr/>
          <p:nvPr/>
        </p:nvSpPr>
        <p:spPr>
          <a:xfrm>
            <a:off x="1517904" y="5367528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17904" y="5408676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460" dirty="0"/>
          </a:p>
        </p:txBody>
      </p:sp>
      <p:sp>
        <p:nvSpPr>
          <p:cNvPr id="36" name="Shape 34"/>
          <p:cNvSpPr/>
          <p:nvPr/>
        </p:nvSpPr>
        <p:spPr>
          <a:xfrm>
            <a:off x="1728216" y="5367528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28216" y="5408676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460" dirty="0"/>
          </a:p>
        </p:txBody>
      </p:sp>
      <p:sp>
        <p:nvSpPr>
          <p:cNvPr id="38" name="Shape 36"/>
          <p:cNvSpPr/>
          <p:nvPr/>
        </p:nvSpPr>
        <p:spPr>
          <a:xfrm>
            <a:off x="1938528" y="5367528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38528" y="5408676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460" dirty="0"/>
          </a:p>
        </p:txBody>
      </p:sp>
      <p:sp>
        <p:nvSpPr>
          <p:cNvPr id="40" name="Shape 38"/>
          <p:cNvSpPr/>
          <p:nvPr/>
        </p:nvSpPr>
        <p:spPr>
          <a:xfrm>
            <a:off x="2148840" y="5367528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48840" y="5408676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460" dirty="0"/>
          </a:p>
        </p:txBody>
      </p:sp>
      <p:sp>
        <p:nvSpPr>
          <p:cNvPr id="42" name="Shape 40"/>
          <p:cNvSpPr/>
          <p:nvPr/>
        </p:nvSpPr>
        <p:spPr>
          <a:xfrm>
            <a:off x="2359152" y="5367528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59152" y="5408676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</a:t>
            </a:r>
            <a:endParaRPr lang="en-US" sz="460" dirty="0"/>
          </a:p>
        </p:txBody>
      </p:sp>
      <p:sp>
        <p:nvSpPr>
          <p:cNvPr id="44" name="Shape 42"/>
          <p:cNvSpPr/>
          <p:nvPr/>
        </p:nvSpPr>
        <p:spPr>
          <a:xfrm>
            <a:off x="2569464" y="5367528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9464" y="5408676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460" dirty="0"/>
          </a:p>
        </p:txBody>
      </p:sp>
      <p:sp>
        <p:nvSpPr>
          <p:cNvPr id="46" name="Shape 44"/>
          <p:cNvSpPr/>
          <p:nvPr/>
        </p:nvSpPr>
        <p:spPr>
          <a:xfrm>
            <a:off x="2779776" y="5367528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79776" y="5408676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460" dirty="0"/>
          </a:p>
        </p:txBody>
      </p:sp>
      <p:sp>
        <p:nvSpPr>
          <p:cNvPr id="48" name="Shape 46"/>
          <p:cNvSpPr/>
          <p:nvPr/>
        </p:nvSpPr>
        <p:spPr>
          <a:xfrm>
            <a:off x="2990088" y="5367528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90088" y="5408676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460" dirty="0"/>
          </a:p>
        </p:txBody>
      </p:sp>
      <p:sp>
        <p:nvSpPr>
          <p:cNvPr id="50" name="Shape 48"/>
          <p:cNvSpPr/>
          <p:nvPr/>
        </p:nvSpPr>
        <p:spPr>
          <a:xfrm>
            <a:off x="1197864" y="5577840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97864" y="5618988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460" dirty="0"/>
          </a:p>
        </p:txBody>
      </p:sp>
      <p:sp>
        <p:nvSpPr>
          <p:cNvPr id="52" name="Shape 50"/>
          <p:cNvSpPr/>
          <p:nvPr/>
        </p:nvSpPr>
        <p:spPr>
          <a:xfrm>
            <a:off x="1408176" y="5577840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408176" y="5618988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460" dirty="0"/>
          </a:p>
        </p:txBody>
      </p:sp>
      <p:sp>
        <p:nvSpPr>
          <p:cNvPr id="54" name="Shape 52"/>
          <p:cNvSpPr/>
          <p:nvPr/>
        </p:nvSpPr>
        <p:spPr>
          <a:xfrm>
            <a:off x="1618488" y="5577840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618488" y="5618988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460" dirty="0"/>
          </a:p>
        </p:txBody>
      </p:sp>
      <p:sp>
        <p:nvSpPr>
          <p:cNvPr id="56" name="Shape 54"/>
          <p:cNvSpPr/>
          <p:nvPr/>
        </p:nvSpPr>
        <p:spPr>
          <a:xfrm>
            <a:off x="1828800" y="5577840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28800" y="5618988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460" dirty="0"/>
          </a:p>
        </p:txBody>
      </p:sp>
      <p:sp>
        <p:nvSpPr>
          <p:cNvPr id="58" name="Shape 56"/>
          <p:cNvSpPr/>
          <p:nvPr/>
        </p:nvSpPr>
        <p:spPr>
          <a:xfrm>
            <a:off x="2039112" y="5577840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039112" y="5618988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460" dirty="0"/>
          </a:p>
        </p:txBody>
      </p:sp>
      <p:sp>
        <p:nvSpPr>
          <p:cNvPr id="60" name="Shape 58"/>
          <p:cNvSpPr/>
          <p:nvPr/>
        </p:nvSpPr>
        <p:spPr>
          <a:xfrm>
            <a:off x="2249424" y="5577840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249424" y="5618988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460" dirty="0"/>
          </a:p>
        </p:txBody>
      </p:sp>
      <p:sp>
        <p:nvSpPr>
          <p:cNvPr id="62" name="Shape 60"/>
          <p:cNvSpPr/>
          <p:nvPr/>
        </p:nvSpPr>
        <p:spPr>
          <a:xfrm>
            <a:off x="2459736" y="5577840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59736" y="5618988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</a:t>
            </a:r>
            <a:endParaRPr lang="en-US" sz="460" dirty="0"/>
          </a:p>
        </p:txBody>
      </p:sp>
      <p:sp>
        <p:nvSpPr>
          <p:cNvPr id="64" name="Shape 62"/>
          <p:cNvSpPr/>
          <p:nvPr/>
        </p:nvSpPr>
        <p:spPr>
          <a:xfrm>
            <a:off x="2670048" y="5577840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670048" y="5618988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460" dirty="0"/>
          </a:p>
        </p:txBody>
      </p:sp>
      <p:sp>
        <p:nvSpPr>
          <p:cNvPr id="66" name="Shape 64"/>
          <p:cNvSpPr/>
          <p:nvPr/>
        </p:nvSpPr>
        <p:spPr>
          <a:xfrm>
            <a:off x="2880360" y="5577840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80360" y="5618988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460" dirty="0"/>
          </a:p>
        </p:txBody>
      </p:sp>
      <p:sp>
        <p:nvSpPr>
          <p:cNvPr id="68" name="Shape 66"/>
          <p:cNvSpPr/>
          <p:nvPr/>
        </p:nvSpPr>
        <p:spPr>
          <a:xfrm>
            <a:off x="1389888" y="5788152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89888" y="5829300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</a:t>
            </a:r>
            <a:endParaRPr lang="en-US" sz="460" dirty="0"/>
          </a:p>
        </p:txBody>
      </p:sp>
      <p:sp>
        <p:nvSpPr>
          <p:cNvPr id="70" name="Shape 68"/>
          <p:cNvSpPr/>
          <p:nvPr/>
        </p:nvSpPr>
        <p:spPr>
          <a:xfrm>
            <a:off x="1600200" y="5788152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600200" y="5829300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460" dirty="0"/>
          </a:p>
        </p:txBody>
      </p:sp>
      <p:sp>
        <p:nvSpPr>
          <p:cNvPr id="72" name="Shape 70"/>
          <p:cNvSpPr/>
          <p:nvPr/>
        </p:nvSpPr>
        <p:spPr>
          <a:xfrm>
            <a:off x="1810512" y="5788152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10512" y="5829300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460" dirty="0"/>
          </a:p>
        </p:txBody>
      </p:sp>
      <p:sp>
        <p:nvSpPr>
          <p:cNvPr id="74" name="Shape 72"/>
          <p:cNvSpPr/>
          <p:nvPr/>
        </p:nvSpPr>
        <p:spPr>
          <a:xfrm>
            <a:off x="2020824" y="5788152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020824" y="5829300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endParaRPr lang="en-US" sz="460" dirty="0"/>
          </a:p>
        </p:txBody>
      </p:sp>
      <p:sp>
        <p:nvSpPr>
          <p:cNvPr id="76" name="Shape 74"/>
          <p:cNvSpPr/>
          <p:nvPr/>
        </p:nvSpPr>
        <p:spPr>
          <a:xfrm>
            <a:off x="2231136" y="5788152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231136" y="5829300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460" dirty="0"/>
          </a:p>
        </p:txBody>
      </p:sp>
      <p:sp>
        <p:nvSpPr>
          <p:cNvPr id="78" name="Shape 76"/>
          <p:cNvSpPr/>
          <p:nvPr/>
        </p:nvSpPr>
        <p:spPr>
          <a:xfrm>
            <a:off x="2441448" y="5788152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441448" y="5829300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460" dirty="0"/>
          </a:p>
        </p:txBody>
      </p:sp>
      <p:sp>
        <p:nvSpPr>
          <p:cNvPr id="80" name="Shape 78"/>
          <p:cNvSpPr/>
          <p:nvPr/>
        </p:nvSpPr>
        <p:spPr>
          <a:xfrm>
            <a:off x="2651760" y="5788152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651760" y="5829300"/>
            <a:ext cx="18288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460" dirty="0"/>
          </a:p>
        </p:txBody>
      </p:sp>
      <p:sp>
        <p:nvSpPr>
          <p:cNvPr id="82" name="Shape 80"/>
          <p:cNvSpPr/>
          <p:nvPr/>
        </p:nvSpPr>
        <p:spPr>
          <a:xfrm>
            <a:off x="4160520" y="1965960"/>
            <a:ext cx="699516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6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4160520" y="1965960"/>
            <a:ext cx="73152" cy="768096"/>
          </a:xfrm>
          <a:prstGeom prst="rect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361688" y="2084832"/>
            <a:ext cx="6665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conversation</a:t>
            </a:r>
            <a:endParaRPr lang="en-US" sz="1220" dirty="0"/>
          </a:p>
        </p:txBody>
      </p:sp>
      <p:sp>
        <p:nvSpPr>
          <p:cNvPr id="85" name="Text 83"/>
          <p:cNvSpPr/>
          <p:nvPr/>
        </p:nvSpPr>
        <p:spPr>
          <a:xfrm>
            <a:off x="4361688" y="2359152"/>
            <a:ext cx="6665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guest can type a combined request such as dinner, spa and airport transportation.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361688" y="2450592"/>
            <a:ext cx="1234440" cy="192024"/>
          </a:xfrm>
          <a:prstGeom prst="roundRect">
            <a:avLst>
              <a:gd name="adj" fmla="val 23810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416552" y="2505456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4160520" y="3044952"/>
            <a:ext cx="699516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6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4160520" y="3044952"/>
            <a:ext cx="73152" cy="768096"/>
          </a:xfrm>
          <a:prstGeom prst="rect">
            <a:avLst/>
          </a:prstGeom>
          <a:solidFill>
            <a:srgbClr val="D8B76A"/>
          </a:solidFill>
          <a:ln w="12700">
            <a:solidFill>
              <a:srgbClr val="D8B76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361688" y="3163824"/>
            <a:ext cx="6665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Host-assisted AI</a:t>
            </a:r>
            <a:endParaRPr lang="en-US" sz="1220" dirty="0"/>
          </a:p>
        </p:txBody>
      </p:sp>
      <p:sp>
        <p:nvSpPr>
          <p:cNvPr id="91" name="Text 89"/>
          <p:cNvSpPr/>
          <p:nvPr/>
        </p:nvSpPr>
        <p:spPr>
          <a:xfrm>
            <a:off x="4361688" y="3438144"/>
            <a:ext cx="6665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prepare tasks, while the VIP host confirms special details and service standards.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4361688" y="3529584"/>
            <a:ext cx="1234440" cy="192024"/>
          </a:xfrm>
          <a:prstGeom prst="roundRect">
            <a:avLst>
              <a:gd name="adj" fmla="val 23810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416552" y="3584448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4160520" y="4123944"/>
            <a:ext cx="699516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6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4160520" y="4123944"/>
            <a:ext cx="73152" cy="768096"/>
          </a:xfrm>
          <a:prstGeom prst="rect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361688" y="4242816"/>
            <a:ext cx="6665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experience</a:t>
            </a:r>
            <a:endParaRPr lang="en-US" sz="1220" dirty="0"/>
          </a:p>
        </p:txBody>
      </p:sp>
      <p:sp>
        <p:nvSpPr>
          <p:cNvPr id="97" name="Text 95"/>
          <p:cNvSpPr/>
          <p:nvPr/>
        </p:nvSpPr>
        <p:spPr>
          <a:xfrm>
            <a:off x="4361688" y="4517136"/>
            <a:ext cx="6665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interface feels like a private assistant rather than a service ticket form.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4361688" y="4608576"/>
            <a:ext cx="1234440" cy="192024"/>
          </a:xfrm>
          <a:prstGeom prst="roundRect">
            <a:avLst>
              <a:gd name="adj" fmla="val 23810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16552" y="4663440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749808" y="5742432"/>
            <a:ext cx="10744200" cy="457200"/>
          </a:xfrm>
          <a:prstGeom prst="roundRect">
            <a:avLst>
              <a:gd name="adj" fmla="val 20000"/>
            </a:avLst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05840" y="5897880"/>
            <a:ext cx="10195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concierge becomes the differentiator: one request can coordinate dining, wellness, transport and host follow-up.</a:t>
            </a:r>
            <a:endParaRPr lang="en-US" sz="10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92608"/>
            <a:ext cx="438912" cy="438912"/>
          </a:xfrm>
          <a:prstGeom prst="hexagon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393192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10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Guest Experience Platform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28346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32520" y="512064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Hotels • Resorts • Casinos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566928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request journey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85216" y="14173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service journey from guest request to host coordination and completion.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02920" y="6446520"/>
            <a:ext cx="11201400" cy="1"/>
          </a:xfrm>
          <a:prstGeom prst="line">
            <a:avLst/>
          </a:prstGeom>
          <a:noFill/>
          <a:ln w="12700">
            <a:solidFill>
              <a:srgbClr val="E5D8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652881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320272" y="652881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1874520" cy="960120"/>
          </a:xfrm>
          <a:prstGeom prst="roundRect">
            <a:avLst>
              <a:gd name="adj" fmla="val 11429"/>
            </a:avLst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7249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70432" y="27249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77824" y="3044952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opens app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2633472" y="2834640"/>
            <a:ext cx="320040" cy="320040"/>
          </a:xfrm>
          <a:prstGeom prst="chevron">
            <a:avLst/>
          </a:prstGeom>
          <a:solidFill>
            <a:srgbClr val="5A554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53512" y="2560320"/>
            <a:ext cx="1874520" cy="960120"/>
          </a:xfrm>
          <a:prstGeom prst="roundRect">
            <a:avLst>
              <a:gd name="adj" fmla="val 11429"/>
            </a:avLst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81528" y="27249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10712" y="27249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18104" y="3044952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or taps request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4873752" y="2834640"/>
            <a:ext cx="320040" cy="320040"/>
          </a:xfrm>
          <a:prstGeom prst="chevron">
            <a:avLst/>
          </a:prstGeom>
          <a:solidFill>
            <a:srgbClr val="5A554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93792" y="2560320"/>
            <a:ext cx="1874520" cy="960120"/>
          </a:xfrm>
          <a:prstGeom prst="roundRect">
            <a:avLst>
              <a:gd name="adj" fmla="val 11429"/>
            </a:avLst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27249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50992" y="27249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58384" y="3044952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host receives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7114032" y="2834640"/>
            <a:ext cx="320040" cy="320040"/>
          </a:xfrm>
          <a:prstGeom prst="chevron">
            <a:avLst/>
          </a:prstGeom>
          <a:solidFill>
            <a:srgbClr val="5A554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34072" y="2560320"/>
            <a:ext cx="1874520" cy="960120"/>
          </a:xfrm>
          <a:prstGeom prst="roundRect">
            <a:avLst>
              <a:gd name="adj" fmla="val 11429"/>
            </a:avLst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62088" y="27249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91272" y="27249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98664" y="3044952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are assigned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9354312" y="2834640"/>
            <a:ext cx="320040" cy="320040"/>
          </a:xfrm>
          <a:prstGeom prst="chevron">
            <a:avLst/>
          </a:prstGeom>
          <a:solidFill>
            <a:srgbClr val="5A554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74352" y="2560320"/>
            <a:ext cx="1874520" cy="960120"/>
          </a:xfrm>
          <a:prstGeom prst="roundRect">
            <a:avLst>
              <a:gd name="adj" fmla="val 11429"/>
            </a:avLst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02368" y="27249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131552" y="27249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838944" y="3044952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 gets update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749808" y="5742432"/>
            <a:ext cx="10744200" cy="457200"/>
          </a:xfrm>
          <a:prstGeom prst="roundRect">
            <a:avLst>
              <a:gd name="adj" fmla="val 20000"/>
            </a:avLst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840" y="5897880"/>
            <a:ext cx="10195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VIP request is tracked, routed and confirmed, while keeping the service feeling personal.</a:t>
            </a:r>
            <a:endParaRPr lang="en-US" sz="10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92608"/>
            <a:ext cx="438912" cy="438912"/>
          </a:xfrm>
          <a:prstGeom prst="hexagon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393192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10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Guest Experience Platform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28346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32520" y="512064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Hotels • Resorts • Casinos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566928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host dashboard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85216" y="14173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staff-facing view for hosts, concierge teams and casino resort operations.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02920" y="6446520"/>
            <a:ext cx="11201400" cy="1"/>
          </a:xfrm>
          <a:prstGeom prst="line">
            <a:avLst/>
          </a:prstGeom>
          <a:noFill/>
          <a:ln w="12700">
            <a:solidFill>
              <a:srgbClr val="E5D8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652881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320272" y="652881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85800" y="182880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24128" y="20848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Host Operations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24128" y="2542032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7EA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688336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926080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Requests</a:t>
            </a:r>
            <a:endParaRPr lang="en-US" sz="630" dirty="0"/>
          </a:p>
        </p:txBody>
      </p:sp>
      <p:sp>
        <p:nvSpPr>
          <p:cNvPr id="19" name="Shape 17"/>
          <p:cNvSpPr/>
          <p:nvPr/>
        </p:nvSpPr>
        <p:spPr>
          <a:xfrm>
            <a:off x="2441448" y="2542032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7EA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2688336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514600" y="2926080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Arrivals</a:t>
            </a:r>
            <a:endParaRPr lang="en-US" sz="630" dirty="0"/>
          </a:p>
        </p:txBody>
      </p:sp>
      <p:sp>
        <p:nvSpPr>
          <p:cNvPr id="22" name="Shape 20"/>
          <p:cNvSpPr/>
          <p:nvPr/>
        </p:nvSpPr>
        <p:spPr>
          <a:xfrm>
            <a:off x="3858768" y="2542032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7EA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2688336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$24K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31920" y="2926080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Upsell Pipeline</a:t>
            </a:r>
            <a:endParaRPr lang="en-US" sz="630" dirty="0"/>
          </a:p>
        </p:txBody>
      </p:sp>
      <p:sp>
        <p:nvSpPr>
          <p:cNvPr id="25" name="Shape 23"/>
          <p:cNvSpPr/>
          <p:nvPr/>
        </p:nvSpPr>
        <p:spPr>
          <a:xfrm>
            <a:off x="1024128" y="3438144"/>
            <a:ext cx="42976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4128" y="3438144"/>
            <a:ext cx="73152" cy="457200"/>
          </a:xfrm>
          <a:prstGeom prst="rect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5296" y="3557016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Suite preparation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 flipV="1">
            <a:off x="1225296" y="3758184"/>
            <a:ext cx="39684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 arriving 4:30 PM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225296" y="3611880"/>
            <a:ext cx="1234440" cy="192024"/>
          </a:xfrm>
          <a:prstGeom prst="roundRect">
            <a:avLst>
              <a:gd name="adj" fmla="val 23810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0160" y="3666744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1024128" y="4096512"/>
            <a:ext cx="42976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24128" y="4096512"/>
            <a:ext cx="73152" cy="457200"/>
          </a:xfrm>
          <a:prstGeom prst="rect">
            <a:avLst/>
          </a:prstGeom>
          <a:solidFill>
            <a:srgbClr val="D8B76A"/>
          </a:solidFill>
          <a:ln w="12700">
            <a:solidFill>
              <a:srgbClr val="D8B7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25296" y="4215384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High-limit access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 flipV="1">
            <a:off x="1225296" y="4416552"/>
            <a:ext cx="39684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Baccarat room request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225296" y="4270248"/>
            <a:ext cx="1234440" cy="192024"/>
          </a:xfrm>
          <a:prstGeom prst="roundRect">
            <a:avLst>
              <a:gd name="adj" fmla="val 23810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80160" y="4325112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024128" y="4754880"/>
            <a:ext cx="42976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24128" y="4754880"/>
            <a:ext cx="73152" cy="457200"/>
          </a:xfrm>
          <a:prstGeom prst="rect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25296" y="4873752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dining</a:t>
            </a:r>
            <a:endParaRPr lang="en-US" sz="1220" dirty="0"/>
          </a:p>
        </p:txBody>
      </p:sp>
      <p:sp>
        <p:nvSpPr>
          <p:cNvPr id="40" name="Text 38"/>
          <p:cNvSpPr/>
          <p:nvPr/>
        </p:nvSpPr>
        <p:spPr>
          <a:xfrm flipV="1">
            <a:off x="1225296" y="5074920"/>
            <a:ext cx="39684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Chef table for four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225296" y="4928616"/>
            <a:ext cx="1234440" cy="192024"/>
          </a:xfrm>
          <a:prstGeom prst="roundRect">
            <a:avLst>
              <a:gd name="adj" fmla="val 23810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80160" y="4983480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6217920" y="1965960"/>
            <a:ext cx="49377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17920" y="1965960"/>
            <a:ext cx="73152" cy="713232"/>
          </a:xfrm>
          <a:prstGeom prst="rect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19088" y="208483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profile</a:t>
            </a:r>
            <a:endParaRPr lang="en-US" sz="1220" dirty="0"/>
          </a:p>
        </p:txBody>
      </p:sp>
      <p:sp>
        <p:nvSpPr>
          <p:cNvPr id="46" name="Text 44"/>
          <p:cNvSpPr/>
          <p:nvPr/>
        </p:nvSpPr>
        <p:spPr>
          <a:xfrm>
            <a:off x="6419088" y="2359152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sees loyalty tier, preferences, arrival details and open requests.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419088" y="2395728"/>
            <a:ext cx="1234440" cy="192024"/>
          </a:xfrm>
          <a:prstGeom prst="roundRect">
            <a:avLst>
              <a:gd name="adj" fmla="val 23810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73952" y="2450592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6217920" y="2926080"/>
            <a:ext cx="49377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6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217920" y="2926080"/>
            <a:ext cx="73152" cy="713232"/>
          </a:xfrm>
          <a:prstGeom prst="rect">
            <a:avLst/>
          </a:prstGeom>
          <a:solidFill>
            <a:srgbClr val="D8B76A"/>
          </a:solidFill>
          <a:ln w="12700">
            <a:solidFill>
              <a:srgbClr val="D8B76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19088" y="304495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coordination</a:t>
            </a:r>
            <a:endParaRPr lang="en-US" sz="1220" dirty="0"/>
          </a:p>
        </p:txBody>
      </p:sp>
      <p:sp>
        <p:nvSpPr>
          <p:cNvPr id="52" name="Text 50"/>
          <p:cNvSpPr/>
          <p:nvPr/>
        </p:nvSpPr>
        <p:spPr>
          <a:xfrm>
            <a:off x="6419088" y="3319272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Dining, casino, spa, transportation and concierge teams can be routed from one dashboard.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419088" y="3355848"/>
            <a:ext cx="1234440" cy="192024"/>
          </a:xfrm>
          <a:prstGeom prst="roundRect">
            <a:avLst>
              <a:gd name="adj" fmla="val 23810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73952" y="3410712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6217920" y="3886200"/>
            <a:ext cx="49377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6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217920" y="3886200"/>
            <a:ext cx="73152" cy="713232"/>
          </a:xfrm>
          <a:prstGeom prst="rect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19088" y="40050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visibility</a:t>
            </a:r>
            <a:endParaRPr lang="en-US" sz="1220" dirty="0"/>
          </a:p>
        </p:txBody>
      </p:sp>
      <p:sp>
        <p:nvSpPr>
          <p:cNvPr id="58" name="Text 56"/>
          <p:cNvSpPr/>
          <p:nvPr/>
        </p:nvSpPr>
        <p:spPr>
          <a:xfrm>
            <a:off x="6419088" y="4279392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Tracks VIP upsell opportunities across suite, dining, gaming, entertainment and resort services.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419088" y="4315968"/>
            <a:ext cx="1234440" cy="192024"/>
          </a:xfrm>
          <a:prstGeom prst="roundRect">
            <a:avLst>
              <a:gd name="adj" fmla="val 23810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73952" y="4370832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92608"/>
            <a:ext cx="438912" cy="438912"/>
          </a:xfrm>
          <a:prstGeom prst="hexagon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393192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10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Guest Experience Platform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28346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32520" y="512064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Hotels • Resorts • Casinos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566928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revenue engine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85216" y="14173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is designed around high-value guest spend and premium service conversion.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02920" y="6446520"/>
            <a:ext cx="11201400" cy="1"/>
          </a:xfrm>
          <a:prstGeom prst="line">
            <a:avLst/>
          </a:prstGeom>
          <a:noFill/>
          <a:ln w="12700">
            <a:solidFill>
              <a:srgbClr val="E5D8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652881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320272" y="652881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1323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167128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2276856"/>
            <a:ext cx="283464" cy="28346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619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Gaming Revenue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153619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gaming access, tournaments, promotions and host-driven engagement.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153619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Casino</a:t>
            </a:r>
            <a:endParaRPr lang="en-US" sz="660" dirty="0"/>
          </a:p>
        </p:txBody>
      </p:sp>
      <p:sp>
        <p:nvSpPr>
          <p:cNvPr id="20" name="Shape 17"/>
          <p:cNvSpPr/>
          <p:nvPr/>
        </p:nvSpPr>
        <p:spPr>
          <a:xfrm>
            <a:off x="446227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2167128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3168" y="2276856"/>
            <a:ext cx="283464" cy="28346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8523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Dining Revenue</a:t>
            </a:r>
            <a:endParaRPr lang="en-US" sz="1180" dirty="0"/>
          </a:p>
        </p:txBody>
      </p:sp>
      <p:sp>
        <p:nvSpPr>
          <p:cNvPr id="24" name="Text 20"/>
          <p:cNvSpPr/>
          <p:nvPr/>
        </p:nvSpPr>
        <p:spPr>
          <a:xfrm>
            <a:off x="528523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Chef table, private dining, in-suite dining, wine and nightlife.</a:t>
            </a:r>
            <a:endParaRPr lang="en-US" sz="820" dirty="0"/>
          </a:p>
        </p:txBody>
      </p:sp>
      <p:sp>
        <p:nvSpPr>
          <p:cNvPr id="25" name="Text 21"/>
          <p:cNvSpPr/>
          <p:nvPr/>
        </p:nvSpPr>
        <p:spPr>
          <a:xfrm>
            <a:off x="528523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Dining</a:t>
            </a:r>
            <a:endParaRPr lang="en-US" sz="660" dirty="0"/>
          </a:p>
        </p:txBody>
      </p:sp>
      <p:sp>
        <p:nvSpPr>
          <p:cNvPr id="26" name="Shape 22"/>
          <p:cNvSpPr/>
          <p:nvPr/>
        </p:nvSpPr>
        <p:spPr>
          <a:xfrm>
            <a:off x="821131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412480" y="2167128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22208" y="2276856"/>
            <a:ext cx="283464" cy="28346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03427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Resort Revenue</a:t>
            </a:r>
            <a:endParaRPr lang="en-US" sz="1180" dirty="0"/>
          </a:p>
        </p:txBody>
      </p:sp>
      <p:sp>
        <p:nvSpPr>
          <p:cNvPr id="30" name="Text 25"/>
          <p:cNvSpPr/>
          <p:nvPr/>
        </p:nvSpPr>
        <p:spPr>
          <a:xfrm>
            <a:off x="903427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Spa, cabanas, golf, experiences and wellness packages.</a:t>
            </a:r>
            <a:endParaRPr lang="en-US" sz="820" dirty="0"/>
          </a:p>
        </p:txBody>
      </p:sp>
      <p:sp>
        <p:nvSpPr>
          <p:cNvPr id="31" name="Text 26"/>
          <p:cNvSpPr/>
          <p:nvPr/>
        </p:nvSpPr>
        <p:spPr>
          <a:xfrm>
            <a:off x="903427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Resort</a:t>
            </a:r>
            <a:endParaRPr lang="en-US" sz="660" dirty="0"/>
          </a:p>
        </p:txBody>
      </p:sp>
      <p:sp>
        <p:nvSpPr>
          <p:cNvPr id="32" name="Shape 27"/>
          <p:cNvSpPr/>
          <p:nvPr/>
        </p:nvSpPr>
        <p:spPr>
          <a:xfrm>
            <a:off x="71323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14400" y="3520440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4128" y="3630168"/>
            <a:ext cx="283464" cy="28346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53619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 Revenue</a:t>
            </a:r>
            <a:endParaRPr lang="en-US" sz="1180" dirty="0"/>
          </a:p>
        </p:txBody>
      </p:sp>
      <p:sp>
        <p:nvSpPr>
          <p:cNvPr id="36" name="Text 30"/>
          <p:cNvSpPr/>
          <p:nvPr/>
        </p:nvSpPr>
        <p:spPr>
          <a:xfrm>
            <a:off x="153619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Limousine, executive SUV, chauffeur and private transfers.</a:t>
            </a:r>
            <a:endParaRPr lang="en-US" sz="820" dirty="0"/>
          </a:p>
        </p:txBody>
      </p:sp>
      <p:sp>
        <p:nvSpPr>
          <p:cNvPr id="37" name="Text 31"/>
          <p:cNvSpPr/>
          <p:nvPr/>
        </p:nvSpPr>
        <p:spPr>
          <a:xfrm>
            <a:off x="153619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</a:t>
            </a:r>
            <a:endParaRPr lang="en-US" sz="660" dirty="0"/>
          </a:p>
        </p:txBody>
      </p:sp>
      <p:sp>
        <p:nvSpPr>
          <p:cNvPr id="38" name="Shape 32"/>
          <p:cNvSpPr/>
          <p:nvPr/>
        </p:nvSpPr>
        <p:spPr>
          <a:xfrm>
            <a:off x="446227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663440" y="3520440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3168" y="3630168"/>
            <a:ext cx="283464" cy="2834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28523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Upgrade Revenue</a:t>
            </a:r>
            <a:endParaRPr lang="en-US" sz="1180" dirty="0"/>
          </a:p>
        </p:txBody>
      </p:sp>
      <p:sp>
        <p:nvSpPr>
          <p:cNvPr id="42" name="Text 35"/>
          <p:cNvSpPr/>
          <p:nvPr/>
        </p:nvSpPr>
        <p:spPr>
          <a:xfrm>
            <a:off x="528523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Suites, late checkout, early arrival and premium stay packages.</a:t>
            </a:r>
            <a:endParaRPr lang="en-US" sz="820" dirty="0"/>
          </a:p>
        </p:txBody>
      </p:sp>
      <p:sp>
        <p:nvSpPr>
          <p:cNvPr id="43" name="Text 36"/>
          <p:cNvSpPr/>
          <p:nvPr/>
        </p:nvSpPr>
        <p:spPr>
          <a:xfrm>
            <a:off x="528523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Upgrades</a:t>
            </a:r>
            <a:endParaRPr lang="en-US" sz="660" dirty="0"/>
          </a:p>
        </p:txBody>
      </p:sp>
      <p:sp>
        <p:nvSpPr>
          <p:cNvPr id="44" name="Shape 37"/>
          <p:cNvSpPr/>
          <p:nvPr/>
        </p:nvSpPr>
        <p:spPr>
          <a:xfrm>
            <a:off x="821131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8412480" y="3520440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22208" y="3630168"/>
            <a:ext cx="283464" cy="28346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903427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 Revenue</a:t>
            </a:r>
            <a:endParaRPr lang="en-US" sz="1180" dirty="0"/>
          </a:p>
        </p:txBody>
      </p:sp>
      <p:sp>
        <p:nvSpPr>
          <p:cNvPr id="48" name="Text 40"/>
          <p:cNvSpPr/>
          <p:nvPr/>
        </p:nvSpPr>
        <p:spPr>
          <a:xfrm>
            <a:off x="903427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Yachts, tours, events, retail and custom itineraries.</a:t>
            </a:r>
            <a:endParaRPr lang="en-US" sz="820" dirty="0"/>
          </a:p>
        </p:txBody>
      </p:sp>
      <p:sp>
        <p:nvSpPr>
          <p:cNvPr id="49" name="Text 41"/>
          <p:cNvSpPr/>
          <p:nvPr/>
        </p:nvSpPr>
        <p:spPr>
          <a:xfrm>
            <a:off x="903427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Experiences</a:t>
            </a:r>
            <a:endParaRPr lang="en-US" sz="660" dirty="0"/>
          </a:p>
        </p:txBody>
      </p:sp>
      <p:sp>
        <p:nvSpPr>
          <p:cNvPr id="50" name="Shape 42"/>
          <p:cNvSpPr/>
          <p:nvPr/>
        </p:nvSpPr>
        <p:spPr>
          <a:xfrm>
            <a:off x="749808" y="5742432"/>
            <a:ext cx="10744200" cy="457200"/>
          </a:xfrm>
          <a:prstGeom prst="roundRect">
            <a:avLst>
              <a:gd name="adj" fmla="val 20000"/>
            </a:avLst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1005840" y="5897880"/>
            <a:ext cx="10195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 is positioned as a premium revenue engine, not a commodity hotel app.</a:t>
            </a:r>
            <a:endParaRPr lang="en-US" sz="10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92608"/>
            <a:ext cx="438912" cy="438912"/>
          </a:xfrm>
          <a:prstGeom prst="hexagon">
            <a:avLst/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393192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10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Guest Experience Platform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28346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32520" y="512064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Hotels • Resorts • Casinos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566928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MVP for luxury and VIP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85216" y="14173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narrow with the highest-value workflows instead of building everything at once.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02920" y="6446520"/>
            <a:ext cx="11201400" cy="1"/>
          </a:xfrm>
          <a:prstGeom prst="line">
            <a:avLst/>
          </a:prstGeom>
          <a:noFill/>
          <a:ln w="12700">
            <a:solidFill>
              <a:srgbClr val="E5D8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652881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320272" y="652881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B7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1323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167128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2276856"/>
            <a:ext cx="283464" cy="28346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619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Host Chat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153619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messaging and request routing to the host team.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153619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</a:t>
            </a:r>
            <a:endParaRPr lang="en-US" sz="660" dirty="0"/>
          </a:p>
        </p:txBody>
      </p:sp>
      <p:sp>
        <p:nvSpPr>
          <p:cNvPr id="20" name="Shape 17"/>
          <p:cNvSpPr/>
          <p:nvPr/>
        </p:nvSpPr>
        <p:spPr>
          <a:xfrm>
            <a:off x="446227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2167128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3168" y="2276856"/>
            <a:ext cx="283464" cy="28346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8523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Arrival Setup</a:t>
            </a:r>
            <a:endParaRPr lang="en-US" sz="1180" dirty="0"/>
          </a:p>
        </p:txBody>
      </p:sp>
      <p:sp>
        <p:nvSpPr>
          <p:cNvPr id="24" name="Text 20"/>
          <p:cNvSpPr/>
          <p:nvPr/>
        </p:nvSpPr>
        <p:spPr>
          <a:xfrm>
            <a:off x="528523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Transportation, suite preferences and welcome package preparation.</a:t>
            </a:r>
            <a:endParaRPr lang="en-US" sz="820" dirty="0"/>
          </a:p>
        </p:txBody>
      </p:sp>
      <p:sp>
        <p:nvSpPr>
          <p:cNvPr id="25" name="Text 21"/>
          <p:cNvSpPr/>
          <p:nvPr/>
        </p:nvSpPr>
        <p:spPr>
          <a:xfrm>
            <a:off x="528523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</a:t>
            </a:r>
            <a:endParaRPr lang="en-US" sz="660" dirty="0"/>
          </a:p>
        </p:txBody>
      </p:sp>
      <p:sp>
        <p:nvSpPr>
          <p:cNvPr id="26" name="Shape 22"/>
          <p:cNvSpPr/>
          <p:nvPr/>
        </p:nvSpPr>
        <p:spPr>
          <a:xfrm>
            <a:off x="8211312" y="196596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412480" y="2167128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22208" y="2276856"/>
            <a:ext cx="283464" cy="28346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03427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Casino VIP</a:t>
            </a:r>
            <a:endParaRPr lang="en-US" sz="1180" dirty="0"/>
          </a:p>
        </p:txBody>
      </p:sp>
      <p:sp>
        <p:nvSpPr>
          <p:cNvPr id="30" name="Text 25"/>
          <p:cNvSpPr/>
          <p:nvPr/>
        </p:nvSpPr>
        <p:spPr>
          <a:xfrm>
            <a:off x="9034272" y="2404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requests, gaming access, tournament registration and rewards summary.</a:t>
            </a:r>
            <a:endParaRPr lang="en-US" sz="820" dirty="0"/>
          </a:p>
        </p:txBody>
      </p:sp>
      <p:sp>
        <p:nvSpPr>
          <p:cNvPr id="31" name="Text 26"/>
          <p:cNvSpPr/>
          <p:nvPr/>
        </p:nvSpPr>
        <p:spPr>
          <a:xfrm>
            <a:off x="9034272" y="2724912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</a:t>
            </a:r>
            <a:endParaRPr lang="en-US" sz="660" dirty="0"/>
          </a:p>
        </p:txBody>
      </p:sp>
      <p:sp>
        <p:nvSpPr>
          <p:cNvPr id="32" name="Shape 27"/>
          <p:cNvSpPr/>
          <p:nvPr/>
        </p:nvSpPr>
        <p:spPr>
          <a:xfrm>
            <a:off x="71323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14400" y="3520440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4128" y="3630168"/>
            <a:ext cx="283464" cy="28346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53619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Dining &amp; Events</a:t>
            </a:r>
            <a:endParaRPr lang="en-US" sz="1180" dirty="0"/>
          </a:p>
        </p:txBody>
      </p:sp>
      <p:sp>
        <p:nvSpPr>
          <p:cNvPr id="36" name="Text 30"/>
          <p:cNvSpPr/>
          <p:nvPr/>
        </p:nvSpPr>
        <p:spPr>
          <a:xfrm>
            <a:off x="153619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dining, event access and nightlife reservations.</a:t>
            </a:r>
            <a:endParaRPr lang="en-US" sz="820" dirty="0"/>
          </a:p>
        </p:txBody>
      </p:sp>
      <p:sp>
        <p:nvSpPr>
          <p:cNvPr id="37" name="Text 31"/>
          <p:cNvSpPr/>
          <p:nvPr/>
        </p:nvSpPr>
        <p:spPr>
          <a:xfrm>
            <a:off x="153619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</a:t>
            </a:r>
            <a:endParaRPr lang="en-US" sz="660" dirty="0"/>
          </a:p>
        </p:txBody>
      </p:sp>
      <p:sp>
        <p:nvSpPr>
          <p:cNvPr id="38" name="Shape 32"/>
          <p:cNvSpPr/>
          <p:nvPr/>
        </p:nvSpPr>
        <p:spPr>
          <a:xfrm>
            <a:off x="446227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663440" y="3520440"/>
            <a:ext cx="502920" cy="502920"/>
          </a:xfrm>
          <a:prstGeom prst="ellipse">
            <a:avLst/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3168" y="3630168"/>
            <a:ext cx="283464" cy="2834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28523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Resort Privileges</a:t>
            </a:r>
            <a:endParaRPr lang="en-US" sz="1180" dirty="0"/>
          </a:p>
        </p:txBody>
      </p:sp>
      <p:sp>
        <p:nvSpPr>
          <p:cNvPr id="42" name="Text 35"/>
          <p:cNvSpPr/>
          <p:nvPr/>
        </p:nvSpPr>
        <p:spPr>
          <a:xfrm>
            <a:off x="528523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Cabanas, spa priority and golf priority workflows.</a:t>
            </a:r>
            <a:endParaRPr lang="en-US" sz="820" dirty="0"/>
          </a:p>
        </p:txBody>
      </p:sp>
      <p:sp>
        <p:nvSpPr>
          <p:cNvPr id="43" name="Text 36"/>
          <p:cNvSpPr/>
          <p:nvPr/>
        </p:nvSpPr>
        <p:spPr>
          <a:xfrm>
            <a:off x="528523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</a:t>
            </a:r>
            <a:endParaRPr lang="en-US" sz="660" dirty="0"/>
          </a:p>
        </p:txBody>
      </p:sp>
      <p:sp>
        <p:nvSpPr>
          <p:cNvPr id="44" name="Shape 37"/>
          <p:cNvSpPr/>
          <p:nvPr/>
        </p:nvSpPr>
        <p:spPr>
          <a:xfrm>
            <a:off x="8211312" y="3319272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D8B7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8412480" y="3520440"/>
            <a:ext cx="502920" cy="502920"/>
          </a:xfrm>
          <a:prstGeom prst="ellipse">
            <a:avLst/>
          </a:prstGeom>
          <a:solidFill>
            <a:srgbClr val="D8B7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22208" y="3630168"/>
            <a:ext cx="283464" cy="28346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9034272" y="3483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Dashboard</a:t>
            </a:r>
            <a:endParaRPr lang="en-US" sz="1180" dirty="0"/>
          </a:p>
        </p:txBody>
      </p:sp>
      <p:sp>
        <p:nvSpPr>
          <p:cNvPr id="48" name="Text 40"/>
          <p:cNvSpPr/>
          <p:nvPr/>
        </p:nvSpPr>
        <p:spPr>
          <a:xfrm>
            <a:off x="9034272" y="37581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A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queue, guest profile, revenue view and follow-up tasks.</a:t>
            </a:r>
            <a:endParaRPr lang="en-US" sz="820" dirty="0"/>
          </a:p>
        </p:txBody>
      </p:sp>
      <p:sp>
        <p:nvSpPr>
          <p:cNvPr id="49" name="Text 41"/>
          <p:cNvSpPr/>
          <p:nvPr/>
        </p:nvSpPr>
        <p:spPr>
          <a:xfrm>
            <a:off x="9034272" y="4078224"/>
            <a:ext cx="11887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</a:t>
            </a:r>
            <a:endParaRPr lang="en-US" sz="660" dirty="0"/>
          </a:p>
        </p:txBody>
      </p:sp>
      <p:sp>
        <p:nvSpPr>
          <p:cNvPr id="50" name="Shape 42"/>
          <p:cNvSpPr/>
          <p:nvPr/>
        </p:nvSpPr>
        <p:spPr>
          <a:xfrm>
            <a:off x="749808" y="5742432"/>
            <a:ext cx="10744200" cy="457200"/>
          </a:xfrm>
          <a:prstGeom prst="roundRect">
            <a:avLst>
              <a:gd name="adj" fmla="val 20000"/>
            </a:avLst>
          </a:prstGeom>
          <a:solidFill>
            <a:srgbClr val="C9A34E"/>
          </a:solidFill>
          <a:ln w="12700">
            <a:solidFill>
              <a:srgbClr val="C9A34E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1005840" y="5897880"/>
            <a:ext cx="10195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first version: VIP host + arrival + casino/dining/resort privileges + host dashboard.</a:t>
            </a:r>
            <a:endParaRPr lang="en-US" sz="10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9A3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10607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8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Guest Experience Platform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sharper hospitality product for luxury hotels, resorts and casino resorts.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49808" y="31546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8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VIP guests, high-value casino members, suite guests and luxury travelers who expect personalized service, fast coordination and exclusive access.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4297680"/>
            <a:ext cx="3429000" cy="502920"/>
          </a:xfrm>
          <a:prstGeom prst="roundRect">
            <a:avLst>
              <a:gd name="adj" fmla="val 21818"/>
            </a:avLst>
          </a:prstGeom>
          <a:solidFill>
            <a:srgbClr val="C9A3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4489704"/>
            <a:ext cx="2926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pilot conversation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6528816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8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STRATINK ELITE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320272" y="652881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D8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Stratink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Stratink Elite</dc:title>
  <dc:subject>Stratink Elite VIP guest experience platform</dc:subject>
  <dc:creator>M365 Copilot</dc:creator>
  <lastModifiedBy>M365 Copilot</lastModifiedBy>
  <revision>1</revision>
  <dcterms:created xsi:type="dcterms:W3CDTF">2026-08-12T03:12:06.4673257Z</dcterms:created>
  <dcterms:modified xsi:type="dcterms:W3CDTF">2026-08-12T03:12:06.4673257Z</dcterms:modified>
</coreProperties>
</file>